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400" b="1">
                <a:solidFill>
                  <a:srgbClr val="38BDF8"/>
                </a:solidFill>
                <a:latin typeface="Arial"/>
              </a:defRPr>
            </a:pPr>
            <a:r>
              <a:t>DISSERTATION PRESENTATION DEFENSE</a:t>
            </a:r>
          </a:p>
          <a:p>
            <a:pPr>
              <a:spcAft>
                <a:spcPts val="2800"/>
              </a:spcAft>
              <a:defRPr sz="4000" b="1">
                <a:solidFill>
                  <a:srgbClr val="FFFFFF"/>
                </a:solidFill>
                <a:latin typeface="Georgia"/>
              </a:defRPr>
            </a:pPr>
            <a:r>
              <a:t>Deep Learning &amp; Contrast Enhancements for Automated Breast Cancer Mammography Classification</a:t>
            </a:r>
          </a:p>
          <a:p>
            <a:pPr>
              <a:defRPr sz="1600">
                <a:solidFill>
                  <a:srgbClr val="E2E8F0"/>
                </a:solidFill>
                <a:latin typeface="Arial"/>
              </a:defRPr>
            </a:pPr>
            <a:r>
              <a:t>Candidate: David Akerele</a:t>
            </a:r>
            <a:br/>
            <a:r>
              <a:t>Department of Computer Science &amp; Artificial Intelligence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B192C"/>
                </a:solidFill>
                <a:latin typeface="Georgia"/>
              </a:defRPr>
            </a:pPr>
            <a:r>
              <a:t>Clinical Background &amp; Challenges</a:t>
            </a:r>
          </a:p>
          <a:p>
            <a:pPr>
              <a:defRPr sz="1400" i="1">
                <a:solidFill>
                  <a:srgbClr val="505A64"/>
                </a:solidFill>
                <a:latin typeface="Arial"/>
              </a:defRPr>
            </a:pPr>
            <a:r>
              <a:t>The limitations of conventional screening protocols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173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1E293B"/>
                </a:solidFill>
                <a:latin typeface="Arial"/>
              </a:defRPr>
            </a:pPr>
            <a:r>
              <a:t>• Breast Cancer Prevalence: The leading cause of oncological mortality among women worldwide.</a:t>
            </a:r>
          </a:p>
          <a:p>
            <a:pPr>
              <a:spcAft>
                <a:spcPts val="1400"/>
              </a:spcAft>
              <a:defRPr sz="1800">
                <a:solidFill>
                  <a:srgbClr val="1E293B"/>
                </a:solidFill>
                <a:latin typeface="Arial"/>
              </a:defRPr>
            </a:pPr>
            <a:r>
              <a:t>• Radiological Biomarkers:</a:t>
            </a:r>
            <a:br/>
            <a:r>
              <a:t>  - Masses: Irregular densities (spiculated contours highly correlate with malignancy).</a:t>
            </a:r>
            <a:br/>
            <a:r>
              <a:t>  - Calcifications: Micro-scale calcium deposits (clusters indicate early DCIS).</a:t>
            </a:r>
          </a:p>
          <a:p>
            <a:pPr>
              <a:defRPr sz="1800">
                <a:solidFill>
                  <a:srgbClr val="1E293B"/>
                </a:solidFill>
                <a:latin typeface="Arial"/>
              </a:defRPr>
            </a:pPr>
            <a:r>
              <a:t>• Key Interpretive Bottlenecks:</a:t>
            </a:r>
            <a:br/>
            <a:r>
              <a:t>  - Glandular Masking Effect: Glandular breast structures block masses, creating high False Negative rates.</a:t>
            </a:r>
            <a:br/>
            <a:r>
              <a:t>  - High False Positives: Structural tissue overlays simulate anomalies, causing unnecessary biopsies.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B192C"/>
                </a:solidFill>
                <a:latin typeface="Georgia"/>
              </a:defRPr>
            </a:pPr>
            <a:r>
              <a:t>Image Preprocessing: CLAHE</a:t>
            </a:r>
          </a:p>
          <a:p>
            <a:pPr>
              <a:defRPr sz="1400" i="1">
                <a:solidFill>
                  <a:srgbClr val="505A64"/>
                </a:solidFill>
                <a:latin typeface="Arial"/>
              </a:defRPr>
            </a:pPr>
            <a:r>
              <a:t>Contrast Limited Adaptive Histogram Equalization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173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1E293B"/>
                </a:solidFill>
                <a:latin typeface="Arial"/>
              </a:defRPr>
            </a:pPr>
            <a:r>
              <a:t>• Objective: Enhance micro-level density boundaries without over-amplifying background noise.</a:t>
            </a:r>
          </a:p>
          <a:p>
            <a:pPr>
              <a:spcAft>
                <a:spcPts val="1400"/>
              </a:spcAft>
              <a:defRPr sz="1800">
                <a:solidFill>
                  <a:srgbClr val="1E293B"/>
                </a:solidFill>
                <a:latin typeface="Arial"/>
              </a:defRPr>
            </a:pPr>
            <a:r>
              <a:t>• Algorithmic Steps:</a:t>
            </a:r>
            <a:br/>
            <a:r>
              <a:t>  1. Tiling: Segment input scan into non-overlapping local grids (8x8 tiles).</a:t>
            </a:r>
            <a:br/>
            <a:r>
              <a:t>  2. Contrast Limiting: Clip localized histograms at threshold 2.0 to suppress noise spikes.</a:t>
            </a:r>
            <a:br/>
            <a:r>
              <a:t>  3. Equalization: Apply cumulative distribution matching locally.</a:t>
            </a:r>
            <a:br/>
            <a:r>
              <a:t>  4. Bilinear Interpolation: Eliminate artificial borders between grids.</a:t>
            </a:r>
          </a:p>
          <a:p>
            <a:pPr>
              <a:defRPr sz="1800">
                <a:solidFill>
                  <a:srgbClr val="1E293B"/>
                </a:solidFill>
                <a:latin typeface="Arial"/>
              </a:defRPr>
            </a:pPr>
            <a:r>
              <a:t>• Outcome: Provides clear lesion margins, assisting neural convolutional layers during feature extraction.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B192C"/>
                </a:solidFill>
                <a:latin typeface="Georgia"/>
              </a:defRPr>
            </a:pPr>
            <a:r>
              <a:t>Deep CNN Model Backbones</a:t>
            </a:r>
          </a:p>
          <a:p>
            <a:pPr>
              <a:defRPr sz="1400" i="1">
                <a:solidFill>
                  <a:srgbClr val="505A64"/>
                </a:solidFill>
                <a:latin typeface="Arial"/>
              </a:defRPr>
            </a:pPr>
            <a:r>
              <a:t>Comparative classification paradigms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173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1E293B"/>
                </a:solidFill>
                <a:latin typeface="Arial"/>
              </a:defRPr>
            </a:pPr>
            <a:r>
              <a:t>• Custom 4-Block CNN Baseline:</a:t>
            </a:r>
            <a:br/>
            <a:r>
              <a:t>  - Built from scratch: 4 Conv-BatchNorm-ReLU-MaxPool stages (double channels up to 256).</a:t>
            </a:r>
            <a:br/>
            <a:r>
              <a:t>  - Simple, lightweight model baseline representing local feature classification.</a:t>
            </a:r>
          </a:p>
          <a:p>
            <a:pPr>
              <a:spcAft>
                <a:spcPts val="1400"/>
              </a:spcAft>
              <a:defRPr sz="1800">
                <a:solidFill>
                  <a:srgbClr val="1E293B"/>
                </a:solidFill>
                <a:latin typeface="Arial"/>
              </a:defRPr>
            </a:pPr>
            <a:r>
              <a:t>• ResNet-50 (Transfer Learning):</a:t>
            </a:r>
            <a:br/>
            <a:r>
              <a:t>  - Identity shortcut skip connections allow direct gradient flows.</a:t>
            </a:r>
            <a:br/>
            <a:r>
              <a:t>  - Loaded pre-trained ImageNet weights; fine-tuned final dense fully-connected parameters.</a:t>
            </a:r>
          </a:p>
          <a:p>
            <a:pPr>
              <a:defRPr sz="1800">
                <a:solidFill>
                  <a:srgbClr val="1E293B"/>
                </a:solidFill>
                <a:latin typeface="Arial"/>
              </a:defRPr>
            </a:pPr>
            <a:r>
              <a:t>• EfficientNet-B0 (Transfer Learning):</a:t>
            </a:r>
            <a:br/>
            <a:r>
              <a:t>  - Uniformly scales depth, width, and resolution using compound scaling coefficients.</a:t>
            </a:r>
            <a:br/>
            <a:r>
              <a:t>  - Highly optimized Mobile Inverted Bottlenecks (MBConv) achieve high accuracy with minimal parameter footprints.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B192C"/>
                </a:solidFill>
                <a:latin typeface="Georgia"/>
              </a:defRPr>
            </a:pPr>
            <a:r>
              <a:t>Clinical Constraints: Softmax Exclusivity</a:t>
            </a:r>
          </a:p>
          <a:p>
            <a:pPr>
              <a:defRPr sz="1400" i="1">
                <a:solidFill>
                  <a:srgbClr val="505A64"/>
                </a:solidFill>
                <a:latin typeface="Arial"/>
              </a:defRPr>
            </a:pPr>
            <a:r>
              <a:t>Enforcing binary mutually exclusive diagnoses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173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1E293B"/>
                </a:solidFill>
                <a:latin typeface="Arial"/>
              </a:defRPr>
            </a:pPr>
            <a:r>
              <a:t>• Problem: Multi-label diagnostic models can accidentally assign benign and malignant classes to a single scan simultaneously, which is clinically impossible.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Arial"/>
              </a:defRPr>
            </a:pPr>
            <a:r>
              <a:t>• Mathematical Constraint: We implement a Softmax function on the final logit outputs:</a:t>
            </a:r>
          </a:p>
          <a:p>
            <a:pPr>
              <a:spcAft>
                <a:spcPts val="1400"/>
              </a:spcAft>
              <a:defRPr sz="2000" b="1">
                <a:solidFill>
                  <a:srgbClr val="0284C7"/>
                </a:solidFill>
                <a:latin typeface="Courier New"/>
              </a:defRPr>
            </a:pPr>
            <a:r>
              <a:t>          P(y = i | x) = e^(z_i) / [ e^(z_1) + e^(z_2) ]</a:t>
            </a:r>
          </a:p>
          <a:p>
            <a:pPr>
              <a:defRPr sz="1800">
                <a:solidFill>
                  <a:srgbClr val="1E293B"/>
                </a:solidFill>
                <a:latin typeface="Arial"/>
              </a:defRPr>
            </a:pPr>
            <a:r>
              <a:t>• Result:</a:t>
            </a:r>
            <a:br/>
            <a:r>
              <a:t>  - Enforces P(Benign) + P(Malignant) = 1.0 (100% sum constraint).</a:t>
            </a:r>
            <a:br/>
            <a:r>
              <a:t>  - Framed in the UI as 'Class Probabilities' to accurately represent classification certainty.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B192C"/>
                </a:solidFill>
                <a:latin typeface="Georgia"/>
              </a:defRPr>
            </a:pPr>
            <a:r>
              <a:t>Quantitative Results Comparison</a:t>
            </a:r>
          </a:p>
          <a:p>
            <a:pPr>
              <a:defRPr sz="1400" i="1">
                <a:solidFill>
                  <a:srgbClr val="505A64"/>
                </a:solidFill>
                <a:latin typeface="Arial"/>
              </a:defRPr>
            </a:pPr>
            <a:r>
              <a:t>Validation split performance metrics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85800" y="1828800"/>
          <a:ext cx="10817352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011680"/>
                <a:gridCol w="2011680"/>
                <a:gridCol w="2011680"/>
                <a:gridCol w="2039112"/>
              </a:tblGrid>
              <a:tr h="8001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Georgia"/>
                        </a:rPr>
                        <a:t>Architecture</a:t>
                      </a:r>
                    </a:p>
                  </a:txBody>
                  <a:tcPr>
                    <a:solidFill>
                      <a:srgbClr val="0B19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Georgia"/>
                        </a:rPr>
                        <a:t>Accuracy</a:t>
                      </a:r>
                    </a:p>
                  </a:txBody>
                  <a:tcPr>
                    <a:solidFill>
                      <a:srgbClr val="0B19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Georgia"/>
                        </a:rPr>
                        <a:t>F1-Score</a:t>
                      </a:r>
                    </a:p>
                  </a:txBody>
                  <a:tcPr>
                    <a:solidFill>
                      <a:srgbClr val="0B19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Georgia"/>
                        </a:rPr>
                        <a:t>AUC-ROC</a:t>
                      </a:r>
                    </a:p>
                  </a:txBody>
                  <a:tcPr>
                    <a:solidFill>
                      <a:srgbClr val="0B19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Georgia"/>
                        </a:rPr>
                        <a:t>Parameters</a:t>
                      </a:r>
                    </a:p>
                  </a:txBody>
                  <a:tcPr>
                    <a:solidFill>
                      <a:srgbClr val="0B192C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284C7"/>
                          </a:solidFill>
                          <a:latin typeface="Arial"/>
                        </a:rPr>
                        <a:t>EfficientNet-B0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284C7"/>
                          </a:solidFill>
                          <a:latin typeface="Arial"/>
                        </a:rPr>
                        <a:t>95.5%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284C7"/>
                          </a:solidFill>
                          <a:latin typeface="Arial"/>
                        </a:rPr>
                        <a:t>0.954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284C7"/>
                          </a:solidFill>
                          <a:latin typeface="Arial"/>
                        </a:rPr>
                        <a:t>0.984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284C7"/>
                          </a:solidFill>
                          <a:latin typeface="Arial"/>
                        </a:rPr>
                        <a:t>5.3 Million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E293B"/>
                          </a:solidFill>
                          <a:latin typeface="Arial"/>
                        </a:rPr>
                        <a:t>ResNet-50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E293B"/>
                          </a:solidFill>
                          <a:latin typeface="Arial"/>
                        </a:rPr>
                        <a:t>94.2%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E293B"/>
                          </a:solidFill>
                          <a:latin typeface="Arial"/>
                        </a:rPr>
                        <a:t>0.941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E293B"/>
                          </a:solidFill>
                          <a:latin typeface="Arial"/>
                        </a:rPr>
                        <a:t>0.978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E293B"/>
                          </a:solidFill>
                          <a:latin typeface="Arial"/>
                        </a:rPr>
                        <a:t>25.6 Million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E293B"/>
                          </a:solidFill>
                          <a:latin typeface="Arial"/>
                        </a:rPr>
                        <a:t>Custom CNN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E293B"/>
                          </a:solidFill>
                          <a:latin typeface="Arial"/>
                        </a:rPr>
                        <a:t>88.7%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E293B"/>
                          </a:solidFill>
                          <a:latin typeface="Arial"/>
                        </a:rPr>
                        <a:t>0.885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E293B"/>
                          </a:solidFill>
                          <a:latin typeface="Arial"/>
                        </a:rPr>
                        <a:t>0.912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E293B"/>
                          </a:solidFill>
                          <a:latin typeface="Arial"/>
                        </a:rPr>
                        <a:t>1.2 Million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85800" y="5303520"/>
            <a:ext cx="108173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800"/>
              </a:spcBef>
              <a:defRPr sz="1400" i="1">
                <a:solidFill>
                  <a:srgbClr val="505A64"/>
                </a:solidFill>
                <a:latin typeface="Arial"/>
              </a:defRPr>
            </a:pPr>
            <a:r>
              <a:t>EfficientNet-B0 achieved the highest performance. Its squeeze-and-excitation attention layers efficiently isolate calcifications and irregular mass borders with a much lower parameter footprint.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B192C"/>
                </a:solidFill>
                <a:latin typeface="Georgia"/>
              </a:defRPr>
            </a:pPr>
            <a:r>
              <a:t>Interactive Clinical Workspace</a:t>
            </a:r>
          </a:p>
          <a:p>
            <a:pPr>
              <a:defRPr sz="1400" i="1">
                <a:solidFill>
                  <a:srgbClr val="505A64"/>
                </a:solidFill>
                <a:latin typeface="Arial"/>
              </a:defRPr>
            </a:pPr>
            <a:r>
              <a:t>A modern CAD diagnostic control panel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173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1E293B"/>
                </a:solidFill>
                <a:latin typeface="Arial"/>
              </a:defRPr>
            </a:pPr>
            <a:r>
              <a:t>• Interactive Single-Page Layout: Operates on a single locked viewport to fit clinical workflows.</a:t>
            </a:r>
          </a:p>
          <a:p>
            <a:pPr>
              <a:spcAft>
                <a:spcPts val="1400"/>
              </a:spcAft>
              <a:defRPr sz="1800">
                <a:solidFill>
                  <a:srgbClr val="1E293B"/>
                </a:solidFill>
                <a:latin typeface="Arial"/>
              </a:defRPr>
            </a:pPr>
            <a:r>
              <a:t>• Core Interface Modules:</a:t>
            </a:r>
            <a:br/>
            <a:r>
              <a:t>  - Side-by-Side Visualizer: Compares the raw mammogram scan with the equalized CLAHE projection.</a:t>
            </a:r>
            <a:br/>
            <a:r>
              <a:t>  - Patient Study Selector: Exposes preloaded database directories to select validation studies instantly.</a:t>
            </a:r>
            <a:br/>
            <a:r>
              <a:t>  - Batch Folder Processor: Supports drag &amp; drop folder uploads, printing an interactive summary table.</a:t>
            </a:r>
            <a:br/>
            <a:r>
              <a:t>  - Audit Log Feed: Displays neural execution indicators, warnings, and hardware usage metrics.</a:t>
            </a:r>
          </a:p>
          <a:p>
            <a:pPr>
              <a:defRPr sz="1800">
                <a:solidFill>
                  <a:srgbClr val="1E293B"/>
                </a:solidFill>
                <a:latin typeface="Arial"/>
              </a:defRPr>
            </a:pPr>
            <a:r>
              <a:t>• Google Colab Integration: Offers a code view rendering repository python files parsed dynamically into individual notebook blocks with play/execute simulations.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B192C"/>
                </a:solidFill>
                <a:latin typeface="Georgia"/>
              </a:defRPr>
            </a:pPr>
            <a:r>
              <a:t>Conclusion &amp; Future Scope</a:t>
            </a:r>
          </a:p>
          <a:p>
            <a:pPr>
              <a:defRPr sz="1400" i="1">
                <a:solidFill>
                  <a:srgbClr val="505A64"/>
                </a:solidFill>
                <a:latin typeface="Arial"/>
              </a:defRPr>
            </a:pPr>
            <a:r>
              <a:t>Research summary and development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173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1E293B"/>
                </a:solidFill>
                <a:latin typeface="Arial"/>
              </a:defRPr>
            </a:pPr>
            <a:r>
              <a:t>• Key Summary: Pre-trained deep transfer learning models combined with CLAHE preprocessing yield a high-performance, clinically consistent classification pipeline.</a:t>
            </a:r>
          </a:p>
          <a:p>
            <a:pPr>
              <a:spcAft>
                <a:spcPts val="1400"/>
              </a:spcAft>
              <a:defRPr sz="1800">
                <a:solidFill>
                  <a:srgbClr val="1E293B"/>
                </a:solidFill>
                <a:latin typeface="Arial"/>
              </a:defRPr>
            </a:pPr>
            <a:r>
              <a:t>• Medical Scope Safeguards: Integrated heuristic scanning checks colors and scanner dark profiles, rejecting invalid uploaded photos to prevent out-of-scope model predictions.</a:t>
            </a:r>
          </a:p>
          <a:p>
            <a:pPr>
              <a:defRPr sz="1800">
                <a:solidFill>
                  <a:srgbClr val="1E293B"/>
                </a:solidFill>
                <a:latin typeface="Arial"/>
              </a:defRPr>
            </a:pPr>
            <a:r>
              <a:t>• Future Extensions:</a:t>
            </a:r>
            <a:br/>
            <a:r>
              <a:t>  - Multi-View Processing: Combine Craniocaudal (CC) and Mediolateral Oblique (MLO) dual streams.</a:t>
            </a:r>
            <a:br/>
            <a:r>
              <a:t>  - Model Explainability: Implement Grad-CAM overlays to highlight mass locations for radiologists.</a:t>
            </a:r>
            <a:br/>
            <a:r>
              <a:t>  - Transformer Architectures: Evaluate vision transformers (ViT) to model global breast context.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