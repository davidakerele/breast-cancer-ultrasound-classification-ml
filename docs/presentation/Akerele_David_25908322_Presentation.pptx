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1a289b1da442da" /><Relationship Type="http://schemas.openxmlformats.org/officeDocument/2006/relationships/extended-properties" Target="/docProps/app.xml" Id="R29e789a83f7c4dc5" /><Relationship Type="http://schemas.openxmlformats.org/officeDocument/2006/relationships/officeDocument" Target="/ppt/presentation.xml" Id="R6fd77b94d2ca4a82" /></Relationships>
</file>

<file path=ppt/presentation.xml><?xml version="1.0" encoding="utf-8"?>
<p:presentation xmlns:p="http://schemas.openxmlformats.org/presentationml/2006/main">
  <p:sldMasterIdLst>
    <p:sldMasterId xmlns:r="http://schemas.openxmlformats.org/officeDocument/2006/relationships" id="2147483648" r:id="R14f4a2c98be44be7"/>
  </p:sldMasterIdLst>
  <p:notesMasterIdLst>
    <p:notesMasterId xmlns:r="http://schemas.openxmlformats.org/officeDocument/2006/relationships" r:id="Rdcbfe3f6333545bd"/>
  </p:notesMasterIdLst>
  <p:sldIdLst>
    <p:sldId xmlns:r="http://schemas.openxmlformats.org/officeDocument/2006/relationships" id="256" r:id="Re36a9ca442d14b73"/>
    <p:sldId xmlns:r="http://schemas.openxmlformats.org/officeDocument/2006/relationships" id="257" r:id="R0389c9332a694fa3"/>
    <p:sldId xmlns:r="http://schemas.openxmlformats.org/officeDocument/2006/relationships" id="258" r:id="R367e196ac11f4a74"/>
    <p:sldId xmlns:r="http://schemas.openxmlformats.org/officeDocument/2006/relationships" id="259" r:id="R3c15a6fbef154d10"/>
    <p:sldId xmlns:r="http://schemas.openxmlformats.org/officeDocument/2006/relationships" id="260" r:id="Ra81eae5b6dac4845"/>
    <p:sldId xmlns:r="http://schemas.openxmlformats.org/officeDocument/2006/relationships" id="261" r:id="R5e35c272f3b34586"/>
    <p:sldId xmlns:r="http://schemas.openxmlformats.org/officeDocument/2006/relationships" id="262" r:id="Rfa388cb1d89e4394"/>
    <p:sldId xmlns:r="http://schemas.openxmlformats.org/officeDocument/2006/relationships" id="263" r:id="R240801b930744616"/>
    <p:sldId xmlns:r="http://schemas.openxmlformats.org/officeDocument/2006/relationships" id="264" r:id="R78ee23aa67004955"/>
    <p:sldId xmlns:r="http://schemas.openxmlformats.org/officeDocument/2006/relationships" id="265" r:id="Rf24b9f76ca5041fd"/>
    <p:sldId xmlns:r="http://schemas.openxmlformats.org/officeDocument/2006/relationships" id="266" r:id="Raaa9093165f24b67"/>
    <p:sldId xmlns:r="http://schemas.openxmlformats.org/officeDocument/2006/relationships" id="267" r:id="R6845fd56d1da46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6c4fd5679b4d10" /><Relationship Type="http://schemas.openxmlformats.org/officeDocument/2006/relationships/slideMaster" Target="/ppt/slideMasters/slideMaster1.xml" Id="R14f4a2c98be44be7" /><Relationship Type="http://schemas.openxmlformats.org/officeDocument/2006/relationships/notesMaster" Target="/ppt/notesMasters/notesMaster1.xml" Id="Rdcbfe3f6333545bd" /><Relationship Type="http://schemas.openxmlformats.org/officeDocument/2006/relationships/presProps" Target="/ppt/presProps.xml" Id="Rf5f712ca46224b3d" /><Relationship Type="http://schemas.openxmlformats.org/officeDocument/2006/relationships/tableStyles" Target="/ppt/tableStyles.xml" Id="R6db5fd972ffd4543" /><Relationship Type="http://schemas.openxmlformats.org/officeDocument/2006/relationships/slide" Target="/ppt/slides/slide1.xml" Id="Re36a9ca442d14b73" /><Relationship Type="http://schemas.openxmlformats.org/officeDocument/2006/relationships/slide" Target="/ppt/slides/slide2.xml" Id="R0389c9332a694fa3" /><Relationship Type="http://schemas.openxmlformats.org/officeDocument/2006/relationships/slide" Target="/ppt/slides/slide3.xml" Id="R367e196ac11f4a74" /><Relationship Type="http://schemas.openxmlformats.org/officeDocument/2006/relationships/slide" Target="/ppt/slides/slide4.xml" Id="R3c15a6fbef154d10" /><Relationship Type="http://schemas.openxmlformats.org/officeDocument/2006/relationships/slide" Target="/ppt/slides/slide5.xml" Id="Ra81eae5b6dac4845" /><Relationship Type="http://schemas.openxmlformats.org/officeDocument/2006/relationships/slide" Target="/ppt/slides/slide6.xml" Id="R5e35c272f3b34586" /><Relationship Type="http://schemas.openxmlformats.org/officeDocument/2006/relationships/slide" Target="/ppt/slides/slide7.xml" Id="Rfa388cb1d89e4394" /><Relationship Type="http://schemas.openxmlformats.org/officeDocument/2006/relationships/slide" Target="/ppt/slides/slide8.xml" Id="R240801b930744616" /><Relationship Type="http://schemas.openxmlformats.org/officeDocument/2006/relationships/slide" Target="/ppt/slides/slide9.xml" Id="R78ee23aa67004955" /><Relationship Type="http://schemas.openxmlformats.org/officeDocument/2006/relationships/slide" Target="/ppt/slides/slide10.xml" Id="Rf24b9f76ca5041fd" /><Relationship Type="http://schemas.openxmlformats.org/officeDocument/2006/relationships/slide" Target="/ppt/slides/slide11.xml" Id="Raaa9093165f24b67" /><Relationship Type="http://schemas.openxmlformats.org/officeDocument/2006/relationships/slide" Target="/ppt/slides/slide12.xml" Id="R6845fd56d1da46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4b9c6c8da744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508dfba3aa4209" /><Relationship Type="http://schemas.openxmlformats.org/officeDocument/2006/relationships/notesMaster" Target="/ppt/notesMasters/notesMaster1.xml" Id="R0700b730d9a142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76c2f5566343ac" /><Relationship Type="http://schemas.openxmlformats.org/officeDocument/2006/relationships/notesMaster" Target="/ppt/notesMasters/notesMaster1.xml" Id="R890534f9b2db41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bfb2016ec64b3c" /><Relationship Type="http://schemas.openxmlformats.org/officeDocument/2006/relationships/notesMaster" Target="/ppt/notesMasters/notesMaster1.xml" Id="Raf357d87ad0849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f9c6203a064a02" /><Relationship Type="http://schemas.openxmlformats.org/officeDocument/2006/relationships/notesMaster" Target="/ppt/notesMasters/notesMaster1.xml" Id="R14b836e4224c47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78a101f60b44eb" /><Relationship Type="http://schemas.openxmlformats.org/officeDocument/2006/relationships/notesMaster" Target="/ppt/notesMasters/notesMaster1.xml" Id="Rbbeafca5b0d745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1bca537d9f4e85" /><Relationship Type="http://schemas.openxmlformats.org/officeDocument/2006/relationships/notesMaster" Target="/ppt/notesMasters/notesMaster1.xml" Id="R6210d42f5df745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1fd2a6f53a461f" /><Relationship Type="http://schemas.openxmlformats.org/officeDocument/2006/relationships/notesMaster" Target="/ppt/notesMasters/notesMaster1.xml" Id="R94b525ffe43d44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c38f12c17f43c6" /><Relationship Type="http://schemas.openxmlformats.org/officeDocument/2006/relationships/notesMaster" Target="/ppt/notesMasters/notesMaster1.xml" Id="Rfaeb6874ed0641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3e92951e0b4aa6" /><Relationship Type="http://schemas.openxmlformats.org/officeDocument/2006/relationships/notesMaster" Target="/ppt/notesMasters/notesMaster1.xml" Id="Rf420bd85615b46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1154d5c62c4c2e" /><Relationship Type="http://schemas.openxmlformats.org/officeDocument/2006/relationships/notesMaster" Target="/ppt/notesMasters/notesMaster1.xml" Id="R85b4e4b6e4dc47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8dc29734b649ad" /><Relationship Type="http://schemas.openxmlformats.org/officeDocument/2006/relationships/notesMaster" Target="/ppt/notesMasters/notesMaster1.xml" Id="R9cbc71fef10e49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57e40d585f4f7b" /><Relationship Type="http://schemas.openxmlformats.org/officeDocument/2006/relationships/notesMaster" Target="/ppt/notesMasters/notesMaster1.xml" Id="R26b535830cf340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evidence boundary. The repaired BrEaST and OASBUD cohort passes the subject-level split audit. The local BUSI derivative remains outside the validated experiment because its patient identifiers and transformation history cannot be reconstructed reliably.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dissertation around two evidence levels. The present result is patient separated within the local BrEaST and OASBUD cohort. It does not establish external or clinical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audit is a first-class stage. Every downstream surface shares the same preprocessing contract. BUSI is documented but cannot enter this path because the local derivative lacks recoverable patient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outputs/data_audit.json. BrEaST and OASBUD pass the subject-level audit. Exclusion concerns this local BUSI derivative, not the value of the original BUSI dataset published by Al-Dhabyani et al. The local copy was renamed and contains processed square derivatives, so its patient mapping, duplicate checks, overlays, and curation history cannot be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supports all three strategies. The submitted experiment uses the default path. A comparative preprocessing claim would require a matched ablation with the same subject partition, seed policy, and training budget. That ablation was not run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outputs/metrics.json and outputs/predictions.csv generated on the audited 62-image test folders. Accuracy 0.6774; macro F1 0.6774; macro recall 0.6803; ROC-AUC 0.7419. The confusion matrix contains 21 true negatives, 12 false positives, 8 false negatives, and 21 true positives. Audit status: passed for BrEaST and OASBUD.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reproducibility as the dissertation's present contribution. The extended evaluation was calculated from the preserved EfficientNet probabilities. No model was retrained and no threshold was selected from the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models use the same audited test split. EfficientNet-B0 has the highest accuracy, macro F1, and ROC-AUC point estimates. The bootstrap intervals overlap, and the stored benchmark has summaries rather than paired per-image outputs, so a paired significance test cannot be reconstructed. The custom CNN exceeding ResNet-50 in this run is useful evidence, but it is not a scientific breakthrough.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precision summarises malignant-class ranking under class imbalance. The Brier score measures probability error. Expected calibration error compares confidence with observed frequency in five bins. These are descriptive diagnostics on 62 images. No calibration model or decision threshold was fitted on the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OASBUD contributes ten of the twelve false positives and three of the eight false negatives. BrEaST contributes two false positives and five false negatives. This shows why pooled accuracy is incomplete. It does not establish that one dataset is better because source and acquisition factors are confounded.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pages: single-image inference, noise robustness, batch explorer, evidence, dataset documentation, and project documentation. Explain that the same API and preprocessing code support every page. The interface includes appropriate-use and unsupported-use guidance. The screenshots document implementation only and do not add clinical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central contribution: a reproducible, patient-separated local experiment linked to a transparent research interface. Point the examiners to the repository before the product demonstration. The report does not use the BUSI derivative, does not claim clinical readiness, and does not claim model superiority. Future work can add multi-seed training, expert error review, and external validation without changing the submitted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a1b21f86de4f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1004ae67bb4a08" /><Relationship Type="http://schemas.openxmlformats.org/officeDocument/2006/relationships/slideLayout" Target="/ppt/slideLayouts/slideLayout1.xml" Id="R66f13588c5af43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f13588c5af43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23442914cb4cc7" /><Relationship Type="http://schemas.openxmlformats.org/officeDocument/2006/relationships/notesSlide" Target="/ppt/notesSlides/notesSlide1.xml" Id="Rc2ed4619a2074f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e5664d5e59405e" /><Relationship Type="http://schemas.openxmlformats.org/officeDocument/2006/relationships/notesSlide" Target="/ppt/notesSlides/notesSlide2.xml" Id="Rfbcbe6cff65341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82e2a558bb4bc3" /><Relationship Type="http://schemas.openxmlformats.org/officeDocument/2006/relationships/notesSlide" Target="/ppt/notesSlides/notesSlide3.xml" Id="Rdea162859aee43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b9c39de30745ee" /><Relationship Type="http://schemas.openxmlformats.org/officeDocument/2006/relationships/notesSlide" Target="/ppt/notesSlides/notesSlide4.xml" Id="Rf284ac35b0914c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0e227ab7cf4d19" /><Relationship Type="http://schemas.openxmlformats.org/officeDocument/2006/relationships/notesSlide" Target="/ppt/notesSlides/notesSlide5.xml" Id="Re1abf9dfcc8442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40e5d3b172488b" /><Relationship Type="http://schemas.openxmlformats.org/officeDocument/2006/relationships/chart" Target="/ppt/slides/charts/chart1.xml" Id="R9a127d72ad8a4ae1" /><Relationship Type="http://schemas.openxmlformats.org/officeDocument/2006/relationships/notesSlide" Target="/ppt/notesSlides/notesSlide6.xml" Id="R0d8baf86260c4c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c9901b1d1242bf" /><Relationship Type="http://schemas.openxmlformats.org/officeDocument/2006/relationships/notesSlide" Target="/ppt/notesSlides/notesSlide7.xml" Id="Rf4f2dfa770764b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89af6e97154375" /><Relationship Type="http://schemas.openxmlformats.org/officeDocument/2006/relationships/chart" Target="/ppt/slides/charts/chart2.xml" Id="R2d433e9433c2497a" /><Relationship Type="http://schemas.openxmlformats.org/officeDocument/2006/relationships/notesSlide" Target="/ppt/notesSlides/notesSlide8.xml" Id="Ra669e400abef4a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1c63d1050143e1" /><Relationship Type="http://schemas.openxmlformats.org/officeDocument/2006/relationships/image" Target="/ppt/media/image.png" Id="Rcd689ef2ef584255" /><Relationship Type="http://schemas.openxmlformats.org/officeDocument/2006/relationships/notesSlide" Target="/ppt/notesSlides/notesSlide9.xml" Id="R6338090a3ff645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048387f8cf4c22" /><Relationship Type="http://schemas.openxmlformats.org/officeDocument/2006/relationships/image" Target="/ppt/media/image2.png" Id="Rf44c5f68da394a82" /><Relationship Type="http://schemas.openxmlformats.org/officeDocument/2006/relationships/notesSlide" Target="/ppt/notesSlides/notesSlide10.xml" Id="Rc15fb15b699a43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38040edc7a436b" /><Relationship Type="http://schemas.openxmlformats.org/officeDocument/2006/relationships/image" Target="/ppt/media/image3.png" Id="R8d8fb3fd56be4dac" /><Relationship Type="http://schemas.openxmlformats.org/officeDocument/2006/relationships/image" Target="/ppt/media/image4.png" Id="R228c0348a1724dbb" /><Relationship Type="http://schemas.openxmlformats.org/officeDocument/2006/relationships/image" Target="/ppt/media/image5.png" Id="Raada31a3a8e14a85" /><Relationship Type="http://schemas.openxmlformats.org/officeDocument/2006/relationships/image" Target="/ppt/media/image6.png" Id="R75cc9cfee21145a5" /><Relationship Type="http://schemas.openxmlformats.org/officeDocument/2006/relationships/image" Target="/ppt/media/image7.png" Id="R320fd2f99e594b3c" /><Relationship Type="http://schemas.openxmlformats.org/officeDocument/2006/relationships/image" Target="/ppt/media/image8.png" Id="R08355642a5c3460f" /><Relationship Type="http://schemas.openxmlformats.org/officeDocument/2006/relationships/notesSlide" Target="/ppt/notesSlides/notesSlide11.xml" Id="R000617a1cd4e44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a4309056664070" /><Relationship Type="http://schemas.openxmlformats.org/officeDocument/2006/relationships/notesSlide" Target="/ppt/notesSlides/notesSlide12.xml" Id="R4f7d777302e140d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Score</c:v>
          </c:tx>
          <c:spPr>
            <a:solidFill xmlns:a="http://schemas.openxmlformats.org/drawingml/2006/main">
              <a:srgbClr val="0C746D"/>
            </a:solidFill>
          </c:spPr>
          <c:cat>
            <c:strRef>
              <c:f>'Chart Data'!$A$2:$A$5</c:f>
              <c:strCache>
                <c:ptCount val="4"/>
                <c:pt idx="0">
                  <c:v>Accuracy</c:v>
                </c:pt>
                <c:pt idx="1">
                  <c:v>Macro F1</c:v>
                </c:pt>
                <c:pt idx="2">
                  <c:v>Macro recall</c:v>
                </c:pt>
                <c:pt idx="3">
                  <c:v>ROC-AUC</c:v>
                </c:pt>
              </c:strCache>
            </c:strRef>
          </c:cat>
          <c:val>
            <c:numRef>
              <c:f>'Chart Data'!$B$2:$B$5</c:f>
              <c:numCache>
                <c:formatCode>General</c:formatCode>
                <c:ptCount val="4"/>
                <c:pt idx="0">
                  <c:v>0.6774</c:v>
                </c:pt>
                <c:pt idx="1">
                  <c:v>0.6774</c:v>
                </c:pt>
                <c:pt idx="2">
                  <c:v>0.6803</c:v>
                </c:pt>
                <c:pt idx="3">
                  <c:v>0.7419</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082F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D6DDD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6DDD8"/>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6F1E8"/>
        </a:solidFill>
      </c:spPr>
    </c:plotArea>
    <c:plotVisOnly val="1"/>
  </c:chart>
  <c:spPr>
    <a:solidFill xmlns:a="http://schemas.openxmlformats.org/drawingml/2006/main">
      <a:srgbClr val="F6F1E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0C746D"/>
            </a:solidFill>
          </c:spPr>
          <c:cat>
            <c:strRef>
              <c:f>'Chart Data'!$A$2:$A$4</c:f>
              <c:strCache>
                <c:ptCount val="3"/>
                <c:pt idx="0">
                  <c:v>EfficientNet-B0</c:v>
                </c:pt>
                <c:pt idx="1">
                  <c:v>Custom CNN</c:v>
                </c:pt>
                <c:pt idx="2">
                  <c:v>ResNet-50</c:v>
                </c:pt>
              </c:strCache>
            </c:strRef>
          </c:cat>
          <c:val>
            <c:numRef>
              <c:f>'Chart Data'!$B$2:$B$4</c:f>
              <c:numCache>
                <c:formatCode>0%</c:formatCode>
                <c:ptCount val="3"/>
                <c:pt idx="0">
                  <c:v>0.6774</c:v>
                </c:pt>
                <c:pt idx="1">
                  <c:v>0.6452</c:v>
                </c:pt>
                <c:pt idx="2">
                  <c:v>0.5645</c:v>
                </c:pt>
              </c:numCache>
            </c:numRef>
          </c:val>
        </c:ser>
        <c:ser>
          <c:idx val="1"/>
          <c:order val="1"/>
          <c:tx>
            <c:v>Macro F1</c:v>
          </c:tx>
          <c:spPr>
            <a:solidFill xmlns:a="http://schemas.openxmlformats.org/drawingml/2006/main">
              <a:srgbClr val="8DD8CE"/>
            </a:solidFill>
          </c:spPr>
          <c:cat>
            <c:strRef>
              <c:f>'Chart Data'!$C$2:$C$4</c:f>
              <c:strCache>
                <c:ptCount val="3"/>
                <c:pt idx="0">
                  <c:v>EfficientNet-B0</c:v>
                </c:pt>
                <c:pt idx="1">
                  <c:v>Custom CNN</c:v>
                </c:pt>
                <c:pt idx="2">
                  <c:v>ResNet-50</c:v>
                </c:pt>
              </c:strCache>
            </c:strRef>
          </c:cat>
          <c:val>
            <c:numRef>
              <c:f>'Chart Data'!$D$2:$D$4</c:f>
              <c:numCache>
                <c:formatCode>0%</c:formatCode>
                <c:ptCount val="3"/>
                <c:pt idx="0">
                  <c:v>0.6774</c:v>
                </c:pt>
                <c:pt idx="1">
                  <c:v>0.6452</c:v>
                </c:pt>
                <c:pt idx="2">
                  <c:v>0.5374</c:v>
                </c:pt>
              </c:numCache>
            </c:numRef>
          </c:val>
        </c:ser>
        <c:ser>
          <c:idx val="2"/>
          <c:order val="2"/>
          <c:tx>
            <c:v>ROC-AUC</c:v>
          </c:tx>
          <c:spPr>
            <a:solidFill xmlns:a="http://schemas.openxmlformats.org/drawingml/2006/main">
              <a:srgbClr val="C38A21"/>
            </a:solidFill>
          </c:spPr>
          <c:cat>
            <c:strRef>
              <c:f>'Chart Data'!$E$2:$E$4</c:f>
              <c:strCache>
                <c:ptCount val="3"/>
                <c:pt idx="0">
                  <c:v>EfficientNet-B0</c:v>
                </c:pt>
                <c:pt idx="1">
                  <c:v>Custom CNN</c:v>
                </c:pt>
                <c:pt idx="2">
                  <c:v>ResNet-50</c:v>
                </c:pt>
              </c:strCache>
            </c:strRef>
          </c:cat>
          <c:val>
            <c:numRef>
              <c:f>'Chart Data'!$F$2:$F$4</c:f>
              <c:numCache>
                <c:formatCode>0%</c:formatCode>
                <c:ptCount val="3"/>
                <c:pt idx="0">
                  <c:v>0.7419</c:v>
                </c:pt>
                <c:pt idx="1">
                  <c:v>0.6708</c:v>
                </c:pt>
                <c:pt idx="2">
                  <c:v>0.6364</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082F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DD8"/>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6DDD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6F1E8"/>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53438"/>
              </a:solidFill>
              <a:latin typeface="Helvetica Neue"/>
              <a:ea typeface="Helvetica Neue"/>
              <a:cs typeface="Helvetica Neue"/>
            </a:defRPr>
          </a:pPr>
        </a:p>
      </c:txPr>
    </c:legend>
    <c:plotVisOnly val="1"/>
  </c:chart>
  <c:spPr>
    <a:solidFill xmlns:a="http://schemas.openxmlformats.org/drawingml/2006/main">
      <a:srgbClr val="F6F1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2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929B48-FE25-49A3-9AAE-A8218E2794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D8C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225AEC-D342-4EA1-905D-CE0E46A1BF05}"/>
              </a:ext>
            </a:extLst>
          </p:cNvPr>
          <p:cNvSpPr>
            <a:spLocks xmlns:a="http://schemas.openxmlformats.org/drawingml/2006/main" noGrp="1"/>
          </p:cNvSpPr>
          <p:nvPr/>
        </p:nvSpPr>
        <p:spPr>
          <a:xfrm xmlns:a="http://schemas.openxmlformats.org/drawingml/2006/main">
            <a:off x="762000" y="6096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8DD8CE"/>
                </a:solidFill>
                <a:latin typeface="Helvetica Neue"/>
                <a:ea typeface="Helvetica Neue"/>
                <a:cs typeface="Helvetica Neue"/>
              </a:defRPr>
            </a:pPr>
            <a:r>
              <a:rPr sz="1200" b="1">
                <a:solidFill>
                  <a:srgbClr val="8DD8CE"/>
                </a:solidFill>
                <a:latin typeface="Helvetica Neue"/>
                <a:ea typeface="Helvetica Neue"/>
                <a:cs typeface="Helvetica Neue"/>
              </a:rPr>
              <a:t>MSc DISSERTATION, 2026</a:t>
            </a:r>
          </a:p>
        </p:txBody>
      </p:sp>
      <p:sp>
        <p:nvSpPr>
          <p:cNvPr id="3" name="">
            <a:extLst xmlns:a="http://schemas.openxmlformats.org/drawingml/2006/main">
              <a:ext uri="{FF2B5EF4-FFF2-40B4-BE49-F238E27FC236}">
                <a16:creationId xmlns:a16="http://schemas.microsoft.com/office/drawing/2014/main" id="{5241EDA8-BB80-47A1-8271-C5C47D3B0B6E}"/>
              </a:ext>
            </a:extLst>
          </p:cNvPr>
          <p:cNvSpPr>
            <a:spLocks xmlns:a="http://schemas.openxmlformats.org/drawingml/2006/main" noGrp="1"/>
          </p:cNvSpPr>
          <p:nvPr/>
        </p:nvSpPr>
        <p:spPr>
          <a:xfrm xmlns:a="http://schemas.openxmlformats.org/drawingml/2006/main">
            <a:off x="723900" y="1333500"/>
            <a:ext cx="876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Breast Cancer Ultrasound</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Classification Using Machine</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Learning</a:t>
            </a:r>
          </a:p>
        </p:txBody>
      </p:sp>
      <p:sp>
        <p:nvSpPr>
          <p:cNvPr id="4" name="">
            <a:extLst xmlns:a="http://schemas.openxmlformats.org/drawingml/2006/main">
              <a:ext uri="{FF2B5EF4-FFF2-40B4-BE49-F238E27FC236}">
                <a16:creationId xmlns:a16="http://schemas.microsoft.com/office/drawing/2014/main" id="{50EE7717-95FA-4429-824E-E85973A42499}"/>
              </a:ext>
            </a:extLst>
          </p:cNvPr>
          <p:cNvSpPr>
            <a:spLocks xmlns:a="http://schemas.openxmlformats.org/drawingml/2006/main" noGrp="1"/>
          </p:cNvSpPr>
          <p:nvPr/>
        </p:nvSpPr>
        <p:spPr>
          <a:xfrm xmlns:a="http://schemas.openxmlformats.org/drawingml/2006/main">
            <a:off x="781050" y="442912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D7E8E3"/>
                </a:solidFill>
                <a:latin typeface="Helvetica Neue"/>
                <a:ea typeface="Helvetica Neue"/>
                <a:cs typeface="Helvetica Neue"/>
              </a:defRPr>
            </a:pPr>
            <a:r>
              <a:rPr sz="1650" b="0">
                <a:solidFill>
                  <a:srgbClr val="D7E8E3"/>
                </a:solidFill>
                <a:latin typeface="Helvetica Neue"/>
                <a:ea typeface="Helvetica Neue"/>
                <a:cs typeface="Helvetica Neue"/>
              </a:rPr>
              <a:t>Auditable evaluation and research dashboard</a:t>
            </a:r>
          </a:p>
        </p:txBody>
      </p:sp>
      <p:sp>
        <p:nvSpPr>
          <p:cNvPr id="5" name="">
            <a:extLst xmlns:a="http://schemas.openxmlformats.org/drawingml/2006/main">
              <a:ext uri="{FF2B5EF4-FFF2-40B4-BE49-F238E27FC236}">
                <a16:creationId xmlns:a16="http://schemas.microsoft.com/office/drawing/2014/main" id="{5771F35C-CB0D-4046-A468-5D3D9F9309D7}"/>
              </a:ext>
            </a:extLst>
          </p:cNvPr>
          <p:cNvSpPr>
            <a:spLocks xmlns:a="http://schemas.openxmlformats.org/drawingml/2006/main" noGrp="1"/>
          </p:cNvSpPr>
          <p:nvPr/>
        </p:nvSpPr>
        <p:spPr>
          <a:xfrm xmlns:a="http://schemas.openxmlformats.org/drawingml/2006/main">
            <a:off x="8667750" y="4476750"/>
            <a:ext cx="2686050" cy="704850"/>
          </a:xfrm>
          <a:prstGeom xmlns:a="http://schemas.openxmlformats.org/drawingml/2006/main" prst="roundRect">
            <a:avLst>
              <a:gd name="adj" fmla="val 50000"/>
            </a:avLst>
          </a:prstGeom>
          <a:solidFill xmlns:a="http://schemas.openxmlformats.org/drawingml/2006/main">
            <a:srgbClr val="F5E8C8"/>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6E4C08"/>
                </a:solidFill>
                <a:latin typeface="Helvetica Neue"/>
                <a:ea typeface="Helvetica Neue"/>
                <a:cs typeface="Helvetica Neue"/>
              </a:defRPr>
            </a:pPr>
            <a:r>
              <a:rPr sz="1350" b="1">
                <a:solidFill>
                  <a:srgbClr val="6E4C08"/>
                </a:solidFill>
                <a:latin typeface="Helvetica Neue"/>
                <a:ea typeface="Helvetica Neue"/>
                <a:cs typeface="Helvetica Neue"/>
              </a:rPr>
              <a:t>LOCAL COHORT EVIDENCE</a:t>
            </a:r>
          </a:p>
        </p:txBody>
      </p:sp>
      <p:sp>
        <p:nvSpPr>
          <p:cNvPr id="6" name="">
            <a:extLst xmlns:a="http://schemas.openxmlformats.org/drawingml/2006/main">
              <a:ext uri="{FF2B5EF4-FFF2-40B4-BE49-F238E27FC236}">
                <a16:creationId xmlns:a16="http://schemas.microsoft.com/office/drawing/2014/main" id="{6E07BD0F-C3ED-412F-B548-F1A8E66DF2DD}"/>
              </a:ext>
            </a:extLst>
          </p:cNvPr>
          <p:cNvSpPr>
            <a:spLocks xmlns:a="http://schemas.openxmlformats.org/drawingml/2006/main" noGrp="1"/>
          </p:cNvSpPr>
          <p:nvPr/>
        </p:nvSpPr>
        <p:spPr>
          <a:xfrm xmlns:a="http://schemas.openxmlformats.org/drawingml/2006/main">
            <a:off x="781050" y="58102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Akerele David Damilola, Student ID 25908322</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Supervisor: Professor Moi Hoon Yap, Manchester Metropolitan University</a:t>
            </a:r>
          </a:p>
        </p:txBody>
      </p:sp>
    </p:spTree>
    <p:extLst>
      <p:ext uri="{BB962C8B-B14F-4D97-AF65-F5344CB8AC3E}">
        <p14:creationId xmlns:p14="http://schemas.microsoft.com/office/powerpoint/2010/main" val="1197814428"/>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FFE324-DCB3-49F8-9249-CFFB83171128}"/>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WHY THIS STUDY MATTERS</a:t>
            </a:r>
          </a:p>
        </p:txBody>
      </p:sp>
      <p:sp>
        <p:nvSpPr>
          <p:cNvPr id="2" name="">
            <a:extLst xmlns:a="http://schemas.openxmlformats.org/drawingml/2006/main">
              <a:ext uri="{FF2B5EF4-FFF2-40B4-BE49-F238E27FC236}">
                <a16:creationId xmlns:a16="http://schemas.microsoft.com/office/drawing/2014/main" id="{EF57A930-2C7A-44F3-93AD-E83CF7A0EBE6}"/>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Model scores and evidence strength are separate</a:t>
            </a:r>
          </a:p>
        </p:txBody>
      </p:sp>
      <p:sp>
        <p:nvSpPr>
          <p:cNvPr id="3" name="">
            <a:extLst xmlns:a="http://schemas.openxmlformats.org/drawingml/2006/main">
              <a:ext uri="{FF2B5EF4-FFF2-40B4-BE49-F238E27FC236}">
                <a16:creationId xmlns:a16="http://schemas.microsoft.com/office/drawing/2014/main" id="{5D0D37B5-5D8A-4E39-A1B1-657FC8F57ADC}"/>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455D78A2-373F-4ADB-903D-1ED15F74F795}"/>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EE953918-12EC-41F4-B68E-313DD84FCCB8}"/>
              </a:ext>
            </a:extLst>
          </p:cNvPr>
          <p:cNvSpPr>
            <a:spLocks xmlns:a="http://schemas.openxmlformats.org/drawingml/2006/main" noGrp="1"/>
          </p:cNvSpPr>
          <p:nvPr/>
        </p:nvSpPr>
        <p:spPr>
          <a:xfrm xmlns:a="http://schemas.openxmlformats.org/drawingml/2006/main">
            <a:off x="609600" y="1733550"/>
            <a:ext cx="5143500" cy="4076700"/>
          </a:xfrm>
          <a:prstGeom xmlns:a="http://schemas.openxmlformats.org/drawingml/2006/main" prst="roundRect">
            <a:avLst>
              <a:gd name="adj" fmla="val 4206"/>
            </a:avLst>
          </a:prstGeom>
          <a:solidFill xmlns:a="http://schemas.openxmlformats.org/drawingml/2006/main">
            <a:srgbClr val="FFFCF6"/>
          </a:solidFill>
          <a:ln xmlns:a="http://schemas.openxmlformats.org/drawingml/2006/main" w="9525">
            <a:solidFill>
              <a:srgbClr val="D6DDD8"/>
            </a:solidFill>
            <a:prstDash val="solid"/>
          </a:ln>
        </p:spPr>
      </p:sp>
      <p:sp>
        <p:nvSpPr>
          <p:cNvPr id="6" name="">
            <a:extLst xmlns:a="http://schemas.openxmlformats.org/drawingml/2006/main">
              <a:ext uri="{FF2B5EF4-FFF2-40B4-BE49-F238E27FC236}">
                <a16:creationId xmlns:a16="http://schemas.microsoft.com/office/drawing/2014/main" id="{A5E8EE4E-80B4-444A-8255-FE1405CFBD2E}"/>
              </a:ext>
            </a:extLst>
          </p:cNvPr>
          <p:cNvSpPr>
            <a:spLocks xmlns:a="http://schemas.openxmlformats.org/drawingml/2006/main" noGrp="1"/>
          </p:cNvSpPr>
          <p:nvPr/>
        </p:nvSpPr>
        <p:spPr>
          <a:xfrm xmlns:a="http://schemas.openxmlformats.org/drawingml/2006/main">
            <a:off x="914400" y="2019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53438"/>
                </a:solidFill>
                <a:latin typeface="Helvetica Neue"/>
                <a:ea typeface="Helvetica Neue"/>
                <a:cs typeface="Helvetica Neue"/>
              </a:defRPr>
            </a:pPr>
            <a:r>
              <a:rPr sz="1950" b="1">
                <a:solidFill>
                  <a:srgbClr val="153438"/>
                </a:solidFill>
                <a:latin typeface="Helvetica Neue"/>
                <a:ea typeface="Helvetica Neue"/>
                <a:cs typeface="Helvetica Neue"/>
              </a:rPr>
              <a:t>The modelling problem</a:t>
            </a:r>
          </a:p>
        </p:txBody>
      </p:sp>
      <p:sp>
        <p:nvSpPr>
          <p:cNvPr id="7" name="">
            <a:extLst xmlns:a="http://schemas.openxmlformats.org/drawingml/2006/main">
              <a:ext uri="{FF2B5EF4-FFF2-40B4-BE49-F238E27FC236}">
                <a16:creationId xmlns:a16="http://schemas.microsoft.com/office/drawing/2014/main" id="{706560F6-5D6E-4C78-BA8D-E40EBAEA240B}"/>
              </a:ext>
            </a:extLst>
          </p:cNvPr>
          <p:cNvSpPr>
            <a:spLocks xmlns:a="http://schemas.openxmlformats.org/drawingml/2006/main" noGrp="1"/>
          </p:cNvSpPr>
          <p:nvPr/>
        </p:nvSpPr>
        <p:spPr>
          <a:xfrm xmlns:a="http://schemas.openxmlformats.org/drawingml/2006/main">
            <a:off x="876300" y="2609850"/>
            <a:ext cx="44196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200"/>
              </a:spcAft>
              <a:buChar char="•"/>
              <a:defRPr sz="1575">
                <a:solidFill>
                  <a:srgbClr val="153438"/>
                </a:solidFill>
                <a:latin typeface="Helvetica Neue"/>
                <a:ea typeface="Helvetica Neue"/>
                <a:cs typeface="Helvetica Neue"/>
              </a:defRPr>
            </a:pPr>
            <a:r>
              <a:rPr sz="1575">
                <a:solidFill>
                  <a:srgbClr val="153438"/>
                </a:solidFill>
                <a:latin typeface="Helvetica Neue"/>
                <a:ea typeface="Helvetica Neue"/>
                <a:cs typeface="Helvetica Neue"/>
              </a:rPr>
              <a:t>Ultrasound varies with operator, device, acquisition settings, anatomy, and speckle.</a:t>
            </a:r>
          </a:p>
          <a:p xmlns:a="http://schemas.openxmlformats.org/drawingml/2006/main">
            <a:pPr marL="254000" indent="-127000">
              <a:spcAft>
                <a:spcPts val="1200"/>
              </a:spcAft>
              <a:buChar char="•"/>
              <a:defRPr sz="1575">
                <a:solidFill>
                  <a:srgbClr val="153438"/>
                </a:solidFill>
                <a:latin typeface="Helvetica Neue"/>
                <a:ea typeface="Helvetica Neue"/>
                <a:cs typeface="Helvetica Neue"/>
              </a:defRPr>
            </a:pPr>
            <a:r>
              <a:rPr sz="1575">
                <a:solidFill>
                  <a:srgbClr val="153438"/>
                </a:solidFill>
                <a:latin typeface="Helvetica Neue"/>
                <a:ea typeface="Helvetica Neue"/>
                <a:cs typeface="Helvetica Neue"/>
              </a:rPr>
              <a:t>Rectangular images can be geometrically distorted by direct square resizing.</a:t>
            </a:r>
          </a:p>
          <a:p xmlns:a="http://schemas.openxmlformats.org/drawingml/2006/main">
            <a:pPr marL="254000" indent="-127000">
              <a:spcAft>
                <a:spcPts val="1200"/>
              </a:spcAft>
              <a:buChar char="•"/>
              <a:defRPr sz="1575">
                <a:solidFill>
                  <a:srgbClr val="153438"/>
                </a:solidFill>
                <a:latin typeface="Helvetica Neue"/>
                <a:ea typeface="Helvetica Neue"/>
                <a:cs typeface="Helvetica Neue"/>
              </a:defRPr>
            </a:pPr>
            <a:r>
              <a:rPr sz="1575">
                <a:solidFill>
                  <a:srgbClr val="153438"/>
                </a:solidFill>
                <a:latin typeface="Helvetica Neue"/>
                <a:ea typeface="Helvetica Neue"/>
                <a:cs typeface="Helvetica Neue"/>
              </a:rPr>
              <a:t>Small public datasets make leakage and undocumented preprocessing unusually consequential.</a:t>
            </a:r>
          </a:p>
        </p:txBody>
      </p:sp>
      <p:sp>
        <p:nvSpPr>
          <p:cNvPr id="8" name="">
            <a:extLst xmlns:a="http://schemas.openxmlformats.org/drawingml/2006/main">
              <a:ext uri="{FF2B5EF4-FFF2-40B4-BE49-F238E27FC236}">
                <a16:creationId xmlns:a16="http://schemas.microsoft.com/office/drawing/2014/main" id="{E0304216-FBA1-4265-AC74-49D9F8484747}"/>
              </a:ext>
            </a:extLst>
          </p:cNvPr>
          <p:cNvSpPr>
            <a:spLocks xmlns:a="http://schemas.openxmlformats.org/drawingml/2006/main" noGrp="1"/>
          </p:cNvSpPr>
          <p:nvPr/>
        </p:nvSpPr>
        <p:spPr>
          <a:xfrm xmlns:a="http://schemas.openxmlformats.org/drawingml/2006/main">
            <a:off x="6057900" y="1733550"/>
            <a:ext cx="5524500" cy="1943100"/>
          </a:xfrm>
          <a:prstGeom xmlns:a="http://schemas.openxmlformats.org/drawingml/2006/main" prst="roundRect">
            <a:avLst>
              <a:gd name="adj" fmla="val 8824"/>
            </a:avLst>
          </a:prstGeom>
          <a:solidFill xmlns:a="http://schemas.openxmlformats.org/drawingml/2006/main">
            <a:srgbClr val="082F35"/>
          </a:solidFill>
          <a:ln xmlns:a="http://schemas.openxmlformats.org/drawingml/2006/main" w="9525">
            <a:solidFill>
              <a:srgbClr val="082F35"/>
            </a:solidFill>
            <a:prstDash val="solid"/>
          </a:ln>
        </p:spPr>
      </p:sp>
      <p:sp>
        <p:nvSpPr>
          <p:cNvPr id="9" name="">
            <a:extLst xmlns:a="http://schemas.openxmlformats.org/drawingml/2006/main">
              <a:ext uri="{FF2B5EF4-FFF2-40B4-BE49-F238E27FC236}">
                <a16:creationId xmlns:a16="http://schemas.microsoft.com/office/drawing/2014/main" id="{6EF524E1-FD0B-419F-99BE-36B48B9C9EA9}"/>
              </a:ext>
            </a:extLst>
          </p:cNvPr>
          <p:cNvSpPr>
            <a:spLocks xmlns:a="http://schemas.openxmlformats.org/drawingml/2006/main" noGrp="1"/>
          </p:cNvSpPr>
          <p:nvPr/>
        </p:nvSpPr>
        <p:spPr>
          <a:xfrm xmlns:a="http://schemas.openxmlformats.org/drawingml/2006/main">
            <a:off x="6381750" y="2047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Engineering evidence</a:t>
            </a:r>
          </a:p>
        </p:txBody>
      </p:sp>
      <p:sp>
        <p:nvSpPr>
          <p:cNvPr id="10" name="">
            <a:extLst xmlns:a="http://schemas.openxmlformats.org/drawingml/2006/main">
              <a:ext uri="{FF2B5EF4-FFF2-40B4-BE49-F238E27FC236}">
                <a16:creationId xmlns:a16="http://schemas.microsoft.com/office/drawing/2014/main" id="{AACC2695-ABFB-4AFC-8067-2BF584A3FC30}"/>
              </a:ext>
            </a:extLst>
          </p:cNvPr>
          <p:cNvSpPr>
            <a:spLocks xmlns:a="http://schemas.openxmlformats.org/drawingml/2006/main" noGrp="1"/>
          </p:cNvSpPr>
          <p:nvPr/>
        </p:nvSpPr>
        <p:spPr>
          <a:xfrm xmlns:a="http://schemas.openxmlformats.org/drawingml/2006/main">
            <a:off x="6381750" y="26098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DDEAE7"/>
                </a:solidFill>
                <a:latin typeface="Helvetica Neue"/>
                <a:ea typeface="Helvetica Neue"/>
                <a:cs typeface="Helvetica Neue"/>
              </a:defRPr>
            </a:pPr>
            <a:r>
              <a:rPr sz="1650" b="0">
                <a:solidFill>
                  <a:srgbClr val="DDEAE7"/>
                </a:solidFill>
                <a:latin typeface="Helvetica Neue"/>
                <a:ea typeface="Helvetica Neue"/>
                <a:cs typeface="Helvetica Neue"/>
              </a:rPr>
              <a:t>The code path executes consistently. Its artifacts are reproducible and auditable.</a:t>
            </a:r>
          </a:p>
        </p:txBody>
      </p:sp>
      <p:sp>
        <p:nvSpPr>
          <p:cNvPr id="11" name="">
            <a:extLst xmlns:a="http://schemas.openxmlformats.org/drawingml/2006/main">
              <a:ext uri="{FF2B5EF4-FFF2-40B4-BE49-F238E27FC236}">
                <a16:creationId xmlns:a16="http://schemas.microsoft.com/office/drawing/2014/main" id="{4A710E0D-D03C-4377-8931-EF16C64809B8}"/>
              </a:ext>
            </a:extLst>
          </p:cNvPr>
          <p:cNvSpPr>
            <a:spLocks xmlns:a="http://schemas.openxmlformats.org/drawingml/2006/main" noGrp="1"/>
          </p:cNvSpPr>
          <p:nvPr/>
        </p:nvSpPr>
        <p:spPr>
          <a:xfrm xmlns:a="http://schemas.openxmlformats.org/drawingml/2006/main">
            <a:off x="6057900" y="3867150"/>
            <a:ext cx="5524500" cy="1943100"/>
          </a:xfrm>
          <a:prstGeom xmlns:a="http://schemas.openxmlformats.org/drawingml/2006/main" prst="roundRect">
            <a:avLst>
              <a:gd name="adj" fmla="val 8824"/>
            </a:avLst>
          </a:prstGeom>
          <a:solidFill xmlns:a="http://schemas.openxmlformats.org/drawingml/2006/main">
            <a:srgbClr val="F3DEDA"/>
          </a:solidFill>
          <a:ln xmlns:a="http://schemas.openxmlformats.org/drawingml/2006/main" w="9525">
            <a:solidFill>
              <a:srgbClr val="D7AAA3"/>
            </a:solidFill>
            <a:prstDash val="solid"/>
          </a:ln>
        </p:spPr>
      </p:sp>
      <p:sp>
        <p:nvSpPr>
          <p:cNvPr id="12" name="">
            <a:extLst xmlns:a="http://schemas.openxmlformats.org/drawingml/2006/main">
              <a:ext uri="{FF2B5EF4-FFF2-40B4-BE49-F238E27FC236}">
                <a16:creationId xmlns:a16="http://schemas.microsoft.com/office/drawing/2014/main" id="{959041BA-555C-4FB9-8F9A-0983F456330F}"/>
              </a:ext>
            </a:extLst>
          </p:cNvPr>
          <p:cNvSpPr>
            <a:spLocks xmlns:a="http://schemas.openxmlformats.org/drawingml/2006/main" noGrp="1"/>
          </p:cNvSpPr>
          <p:nvPr/>
        </p:nvSpPr>
        <p:spPr>
          <a:xfrm xmlns:a="http://schemas.openxmlformats.org/drawingml/2006/main">
            <a:off x="6381750" y="4171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9B3F36"/>
                </a:solidFill>
                <a:latin typeface="Helvetica Neue"/>
                <a:ea typeface="Helvetica Neue"/>
                <a:cs typeface="Helvetica Neue"/>
              </a:defRPr>
            </a:pPr>
            <a:r>
              <a:rPr sz="2100" b="1">
                <a:solidFill>
                  <a:srgbClr val="9B3F36"/>
                </a:solidFill>
                <a:latin typeface="Helvetica Neue"/>
                <a:ea typeface="Helvetica Neue"/>
                <a:cs typeface="Helvetica Neue"/>
              </a:rPr>
              <a:t>Generalisation evidence</a:t>
            </a:r>
          </a:p>
        </p:txBody>
      </p:sp>
      <p:sp>
        <p:nvSpPr>
          <p:cNvPr id="13" name="">
            <a:extLst xmlns:a="http://schemas.openxmlformats.org/drawingml/2006/main">
              <a:ext uri="{FF2B5EF4-FFF2-40B4-BE49-F238E27FC236}">
                <a16:creationId xmlns:a16="http://schemas.microsoft.com/office/drawing/2014/main" id="{277FA223-C721-405D-8E8B-3D59D995134C}"/>
              </a:ext>
            </a:extLst>
          </p:cNvPr>
          <p:cNvSpPr>
            <a:spLocks xmlns:a="http://schemas.openxmlformats.org/drawingml/2006/main" noGrp="1"/>
          </p:cNvSpPr>
          <p:nvPr/>
        </p:nvSpPr>
        <p:spPr>
          <a:xfrm xmlns:a="http://schemas.openxmlformats.org/drawingml/2006/main">
            <a:off x="6381750" y="4733925"/>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73E39"/>
                </a:solidFill>
                <a:latin typeface="Helvetica Neue"/>
                <a:ea typeface="Helvetica Neue"/>
                <a:cs typeface="Helvetica Neue"/>
              </a:defRPr>
            </a:pPr>
            <a:r>
              <a:rPr sz="1650" b="0">
                <a:solidFill>
                  <a:srgbClr val="673E39"/>
                </a:solidFill>
                <a:latin typeface="Helvetica Neue"/>
                <a:ea typeface="Helvetica Neue"/>
                <a:cs typeface="Helvetica Neue"/>
              </a:rPr>
              <a:t>The repaired local cohort has subject separation. External and clinical validation remain outside this study.</a:t>
            </a:r>
          </a:p>
        </p:txBody>
      </p:sp>
      <p:sp>
        <p:nvSpPr>
          <p:cNvPr id="14" name="">
            <a:extLst xmlns:a="http://schemas.openxmlformats.org/drawingml/2006/main">
              <a:ext uri="{FF2B5EF4-FFF2-40B4-BE49-F238E27FC236}">
                <a16:creationId xmlns:a16="http://schemas.microsoft.com/office/drawing/2014/main" id="{70E5E23F-D67D-4D15-9627-5F6C19C3D338}"/>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1499993760"/>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F8E5785-4136-42EC-BEB5-DCC31609C64A}"/>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SYSTEM DESIGN</a:t>
            </a:r>
          </a:p>
        </p:txBody>
      </p:sp>
      <p:sp>
        <p:nvSpPr>
          <p:cNvPr id="2" name="">
            <a:extLst xmlns:a="http://schemas.openxmlformats.org/drawingml/2006/main">
              <a:ext uri="{FF2B5EF4-FFF2-40B4-BE49-F238E27FC236}">
                <a16:creationId xmlns:a16="http://schemas.microsoft.com/office/drawing/2014/main" id="{4598385D-659C-4F26-822C-3B720F45F36E}"/>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One controlled path connects the data to every output</a:t>
            </a:r>
          </a:p>
        </p:txBody>
      </p:sp>
      <p:sp>
        <p:nvSpPr>
          <p:cNvPr id="3" name="">
            <a:extLst xmlns:a="http://schemas.openxmlformats.org/drawingml/2006/main">
              <a:ext uri="{FF2B5EF4-FFF2-40B4-BE49-F238E27FC236}">
                <a16:creationId xmlns:a16="http://schemas.microsoft.com/office/drawing/2014/main" id="{CCA5FA65-8BAB-4312-8FDA-5D4497DBF91B}"/>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6EA9DED5-F5AA-4E1A-99E6-E4BBC8FD04DB}"/>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261EE834-57CA-401F-8FFF-C36966DDA2AB}"/>
              </a:ext>
            </a:extLst>
          </p:cNvPr>
          <p:cNvSpPr>
            <a:spLocks xmlns:a="http://schemas.openxmlformats.org/drawingml/2006/main" noGrp="1"/>
          </p:cNvSpPr>
          <p:nvPr/>
        </p:nvSpPr>
        <p:spPr>
          <a:xfrm xmlns:a="http://schemas.openxmlformats.org/drawingml/2006/main">
            <a:off x="55245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6" name="">
            <a:extLst xmlns:a="http://schemas.openxmlformats.org/drawingml/2006/main">
              <a:ext uri="{FF2B5EF4-FFF2-40B4-BE49-F238E27FC236}">
                <a16:creationId xmlns:a16="http://schemas.microsoft.com/office/drawing/2014/main" id="{DD438E78-BD25-446E-9D50-76A7F3878BCA}"/>
              </a:ext>
            </a:extLst>
          </p:cNvPr>
          <p:cNvSpPr>
            <a:spLocks xmlns:a="http://schemas.openxmlformats.org/drawingml/2006/main" noGrp="1"/>
          </p:cNvSpPr>
          <p:nvPr/>
        </p:nvSpPr>
        <p:spPr>
          <a:xfrm xmlns:a="http://schemas.openxmlformats.org/drawingml/2006/main">
            <a:off x="74295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894D28B-E546-4583-854A-CD1F5199FAA5}"/>
              </a:ext>
            </a:extLst>
          </p:cNvPr>
          <p:cNvSpPr>
            <a:spLocks xmlns:a="http://schemas.openxmlformats.org/drawingml/2006/main" noGrp="1"/>
          </p:cNvSpPr>
          <p:nvPr/>
        </p:nvSpPr>
        <p:spPr>
          <a:xfrm xmlns:a="http://schemas.openxmlformats.org/drawingml/2006/main">
            <a:off x="74295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DATA</a:t>
            </a:r>
          </a:p>
        </p:txBody>
      </p:sp>
      <p:sp>
        <p:nvSpPr>
          <p:cNvPr id="8" name="">
            <a:extLst xmlns:a="http://schemas.openxmlformats.org/drawingml/2006/main">
              <a:ext uri="{FF2B5EF4-FFF2-40B4-BE49-F238E27FC236}">
                <a16:creationId xmlns:a16="http://schemas.microsoft.com/office/drawing/2014/main" id="{6886AA58-802F-4D51-B4E1-74A4741DCA15}"/>
              </a:ext>
            </a:extLst>
          </p:cNvPr>
          <p:cNvSpPr>
            <a:spLocks xmlns:a="http://schemas.openxmlformats.org/drawingml/2006/main" noGrp="1"/>
          </p:cNvSpPr>
          <p:nvPr/>
        </p:nvSpPr>
        <p:spPr>
          <a:xfrm xmlns:a="http://schemas.openxmlformats.org/drawingml/2006/main">
            <a:off x="74295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OASBUD and BrEaST</a:t>
            </a:r>
          </a:p>
        </p:txBody>
      </p:sp>
      <p:sp>
        <p:nvSpPr>
          <p:cNvPr id="9" name="">
            <a:extLst xmlns:a="http://schemas.openxmlformats.org/drawingml/2006/main">
              <a:ext uri="{FF2B5EF4-FFF2-40B4-BE49-F238E27FC236}">
                <a16:creationId xmlns:a16="http://schemas.microsoft.com/office/drawing/2014/main" id="{4DF23C60-21FC-4A6B-A5B7-E75C5AFAE1FD}"/>
              </a:ext>
            </a:extLst>
          </p:cNvPr>
          <p:cNvSpPr>
            <a:spLocks xmlns:a="http://schemas.openxmlformats.org/drawingml/2006/main" noGrp="1"/>
          </p:cNvSpPr>
          <p:nvPr/>
        </p:nvSpPr>
        <p:spPr>
          <a:xfrm xmlns:a="http://schemas.openxmlformats.org/drawingml/2006/main">
            <a:off x="2476500" y="2362200"/>
            <a:ext cx="1657350" cy="1714500"/>
          </a:xfrm>
          <a:prstGeom xmlns:a="http://schemas.openxmlformats.org/drawingml/2006/main" prst="roundRect">
            <a:avLst>
              <a:gd name="adj" fmla="val 9195"/>
            </a:avLst>
          </a:prstGeom>
          <a:solidFill xmlns:a="http://schemas.openxmlformats.org/drawingml/2006/main">
            <a:srgbClr val="F5E8C8"/>
          </a:solidFill>
          <a:ln xmlns:a="http://schemas.openxmlformats.org/drawingml/2006/main" w="9525">
            <a:solidFill>
              <a:srgbClr val="D6B56F"/>
            </a:solidFill>
            <a:prstDash val="solid"/>
          </a:ln>
        </p:spPr>
      </p:sp>
      <p:sp>
        <p:nvSpPr>
          <p:cNvPr id="10" name="">
            <a:extLst xmlns:a="http://schemas.openxmlformats.org/drawingml/2006/main">
              <a:ext uri="{FF2B5EF4-FFF2-40B4-BE49-F238E27FC236}">
                <a16:creationId xmlns:a16="http://schemas.microsoft.com/office/drawing/2014/main" id="{E5C05D0F-3084-4374-9766-42D092C116EB}"/>
              </a:ext>
            </a:extLst>
          </p:cNvPr>
          <p:cNvSpPr>
            <a:spLocks xmlns:a="http://schemas.openxmlformats.org/drawingml/2006/main" noGrp="1"/>
          </p:cNvSpPr>
          <p:nvPr/>
        </p:nvSpPr>
        <p:spPr>
          <a:xfrm xmlns:a="http://schemas.openxmlformats.org/drawingml/2006/main">
            <a:off x="266700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2170DDC8-F2F4-4E17-B972-68A3C904C8AD}"/>
              </a:ext>
            </a:extLst>
          </p:cNvPr>
          <p:cNvSpPr>
            <a:spLocks xmlns:a="http://schemas.openxmlformats.org/drawingml/2006/main" noGrp="1"/>
          </p:cNvSpPr>
          <p:nvPr/>
        </p:nvSpPr>
        <p:spPr>
          <a:xfrm xmlns:a="http://schemas.openxmlformats.org/drawingml/2006/main">
            <a:off x="266700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AUDIT</a:t>
            </a:r>
          </a:p>
        </p:txBody>
      </p:sp>
      <p:sp>
        <p:nvSpPr>
          <p:cNvPr id="12" name="">
            <a:extLst xmlns:a="http://schemas.openxmlformats.org/drawingml/2006/main">
              <a:ext uri="{FF2B5EF4-FFF2-40B4-BE49-F238E27FC236}">
                <a16:creationId xmlns:a16="http://schemas.microsoft.com/office/drawing/2014/main" id="{41AA654C-762E-4953-8154-0944344568A1}"/>
              </a:ext>
            </a:extLst>
          </p:cNvPr>
          <p:cNvSpPr>
            <a:spLocks xmlns:a="http://schemas.openxmlformats.org/drawingml/2006/main" noGrp="1"/>
          </p:cNvSpPr>
          <p:nvPr/>
        </p:nvSpPr>
        <p:spPr>
          <a:xfrm xmlns:a="http://schemas.openxmlformats.org/drawingml/2006/main">
            <a:off x="266700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subjects and provenance</a:t>
            </a:r>
          </a:p>
        </p:txBody>
      </p:sp>
      <p:sp>
        <p:nvSpPr>
          <p:cNvPr id="13" name="">
            <a:extLst xmlns:a="http://schemas.openxmlformats.org/drawingml/2006/main">
              <a:ext uri="{FF2B5EF4-FFF2-40B4-BE49-F238E27FC236}">
                <a16:creationId xmlns:a16="http://schemas.microsoft.com/office/drawing/2014/main" id="{98179FCA-3CB9-4491-AB88-FA7E37B5D6CC}"/>
              </a:ext>
            </a:extLst>
          </p:cNvPr>
          <p:cNvSpPr>
            <a:spLocks xmlns:a="http://schemas.openxmlformats.org/drawingml/2006/main" noGrp="1"/>
          </p:cNvSpPr>
          <p:nvPr/>
        </p:nvSpPr>
        <p:spPr>
          <a:xfrm xmlns:a="http://schemas.openxmlformats.org/drawingml/2006/main">
            <a:off x="440055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14" name="">
            <a:extLst xmlns:a="http://schemas.openxmlformats.org/drawingml/2006/main">
              <a:ext uri="{FF2B5EF4-FFF2-40B4-BE49-F238E27FC236}">
                <a16:creationId xmlns:a16="http://schemas.microsoft.com/office/drawing/2014/main" id="{F3A8D2A9-1823-4735-8D64-A4EB5D692F78}"/>
              </a:ext>
            </a:extLst>
          </p:cNvPr>
          <p:cNvSpPr>
            <a:spLocks xmlns:a="http://schemas.openxmlformats.org/drawingml/2006/main" noGrp="1"/>
          </p:cNvSpPr>
          <p:nvPr/>
        </p:nvSpPr>
        <p:spPr>
          <a:xfrm xmlns:a="http://schemas.openxmlformats.org/drawingml/2006/main">
            <a:off x="459105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B149F588-E169-4DF1-AA3A-4613E765327F}"/>
              </a:ext>
            </a:extLst>
          </p:cNvPr>
          <p:cNvSpPr>
            <a:spLocks xmlns:a="http://schemas.openxmlformats.org/drawingml/2006/main" noGrp="1"/>
          </p:cNvSpPr>
          <p:nvPr/>
        </p:nvSpPr>
        <p:spPr>
          <a:xfrm xmlns:a="http://schemas.openxmlformats.org/drawingml/2006/main">
            <a:off x="459105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2F35"/>
                </a:solidFill>
                <a:latin typeface="Helvetica Neue"/>
                <a:ea typeface="Helvetica Neue"/>
                <a:cs typeface="Helvetica Neue"/>
              </a:defRPr>
            </a:pPr>
            <a:r>
              <a:rPr sz="1200" b="1">
                <a:solidFill>
                  <a:srgbClr val="082F35"/>
                </a:solidFill>
                <a:latin typeface="Helvetica Neue"/>
                <a:ea typeface="Helvetica Neue"/>
                <a:cs typeface="Helvetica Neue"/>
              </a:rPr>
              <a:t>PREPROCESS</a:t>
            </a:r>
          </a:p>
        </p:txBody>
      </p:sp>
      <p:sp>
        <p:nvSpPr>
          <p:cNvPr id="16" name="">
            <a:extLst xmlns:a="http://schemas.openxmlformats.org/drawingml/2006/main">
              <a:ext uri="{FF2B5EF4-FFF2-40B4-BE49-F238E27FC236}">
                <a16:creationId xmlns:a16="http://schemas.microsoft.com/office/drawing/2014/main" id="{5DAAB0C6-F825-4618-A0CD-970CAE7796E0}"/>
              </a:ext>
            </a:extLst>
          </p:cNvPr>
          <p:cNvSpPr>
            <a:spLocks xmlns:a="http://schemas.openxmlformats.org/drawingml/2006/main" noGrp="1"/>
          </p:cNvSpPr>
          <p:nvPr/>
        </p:nvSpPr>
        <p:spPr>
          <a:xfrm xmlns:a="http://schemas.openxmlformats.org/drawingml/2006/main">
            <a:off x="459105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CLAHE, crop, pad</a:t>
            </a:r>
          </a:p>
        </p:txBody>
      </p:sp>
      <p:sp>
        <p:nvSpPr>
          <p:cNvPr id="17" name="">
            <a:extLst xmlns:a="http://schemas.openxmlformats.org/drawingml/2006/main">
              <a:ext uri="{FF2B5EF4-FFF2-40B4-BE49-F238E27FC236}">
                <a16:creationId xmlns:a16="http://schemas.microsoft.com/office/drawing/2014/main" id="{63CB7D1B-9C48-4915-967A-E19A780AE673}"/>
              </a:ext>
            </a:extLst>
          </p:cNvPr>
          <p:cNvSpPr>
            <a:spLocks xmlns:a="http://schemas.openxmlformats.org/drawingml/2006/main" noGrp="1"/>
          </p:cNvSpPr>
          <p:nvPr/>
        </p:nvSpPr>
        <p:spPr>
          <a:xfrm xmlns:a="http://schemas.openxmlformats.org/drawingml/2006/main">
            <a:off x="632460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18" name="">
            <a:extLst xmlns:a="http://schemas.openxmlformats.org/drawingml/2006/main">
              <a:ext uri="{FF2B5EF4-FFF2-40B4-BE49-F238E27FC236}">
                <a16:creationId xmlns:a16="http://schemas.microsoft.com/office/drawing/2014/main" id="{A4836200-B2F1-4EFE-99B2-5CA41DA8168A}"/>
              </a:ext>
            </a:extLst>
          </p:cNvPr>
          <p:cNvSpPr>
            <a:spLocks xmlns:a="http://schemas.openxmlformats.org/drawingml/2006/main" noGrp="1"/>
          </p:cNvSpPr>
          <p:nvPr/>
        </p:nvSpPr>
        <p:spPr>
          <a:xfrm xmlns:a="http://schemas.openxmlformats.org/drawingml/2006/main">
            <a:off x="651510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8A191E18-5A5F-432F-B022-FADC4530521E}"/>
              </a:ext>
            </a:extLst>
          </p:cNvPr>
          <p:cNvSpPr>
            <a:spLocks xmlns:a="http://schemas.openxmlformats.org/drawingml/2006/main" noGrp="1"/>
          </p:cNvSpPr>
          <p:nvPr/>
        </p:nvSpPr>
        <p:spPr>
          <a:xfrm xmlns:a="http://schemas.openxmlformats.org/drawingml/2006/main">
            <a:off x="651510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MODEL</a:t>
            </a:r>
          </a:p>
        </p:txBody>
      </p:sp>
      <p:sp>
        <p:nvSpPr>
          <p:cNvPr id="20" name="">
            <a:extLst xmlns:a="http://schemas.openxmlformats.org/drawingml/2006/main">
              <a:ext uri="{FF2B5EF4-FFF2-40B4-BE49-F238E27FC236}">
                <a16:creationId xmlns:a16="http://schemas.microsoft.com/office/drawing/2014/main" id="{E7205D74-C456-4ECE-9BC5-26B084D87A66}"/>
              </a:ext>
            </a:extLst>
          </p:cNvPr>
          <p:cNvSpPr>
            <a:spLocks xmlns:a="http://schemas.openxmlformats.org/drawingml/2006/main" noGrp="1"/>
          </p:cNvSpPr>
          <p:nvPr/>
        </p:nvSpPr>
        <p:spPr>
          <a:xfrm xmlns:a="http://schemas.openxmlformats.org/drawingml/2006/main">
            <a:off x="651510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EfficientNet, ResNet, CNN</a:t>
            </a:r>
          </a:p>
        </p:txBody>
      </p:sp>
      <p:sp>
        <p:nvSpPr>
          <p:cNvPr id="21" name="">
            <a:extLst xmlns:a="http://schemas.openxmlformats.org/drawingml/2006/main">
              <a:ext uri="{FF2B5EF4-FFF2-40B4-BE49-F238E27FC236}">
                <a16:creationId xmlns:a16="http://schemas.microsoft.com/office/drawing/2014/main" id="{318FDCC3-98D8-4D98-B782-96923F829997}"/>
              </a:ext>
            </a:extLst>
          </p:cNvPr>
          <p:cNvSpPr>
            <a:spLocks xmlns:a="http://schemas.openxmlformats.org/drawingml/2006/main" noGrp="1"/>
          </p:cNvSpPr>
          <p:nvPr/>
        </p:nvSpPr>
        <p:spPr>
          <a:xfrm xmlns:a="http://schemas.openxmlformats.org/drawingml/2006/main">
            <a:off x="824865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22" name="">
            <a:extLst xmlns:a="http://schemas.openxmlformats.org/drawingml/2006/main">
              <a:ext uri="{FF2B5EF4-FFF2-40B4-BE49-F238E27FC236}">
                <a16:creationId xmlns:a16="http://schemas.microsoft.com/office/drawing/2014/main" id="{B3EDE373-2E22-45A4-A533-0A41B9016241}"/>
              </a:ext>
            </a:extLst>
          </p:cNvPr>
          <p:cNvSpPr>
            <a:spLocks xmlns:a="http://schemas.openxmlformats.org/drawingml/2006/main" noGrp="1"/>
          </p:cNvSpPr>
          <p:nvPr/>
        </p:nvSpPr>
        <p:spPr>
          <a:xfrm xmlns:a="http://schemas.openxmlformats.org/drawingml/2006/main">
            <a:off x="843915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D9C598D9-170A-47F3-88A0-E5858EDC67EB}"/>
              </a:ext>
            </a:extLst>
          </p:cNvPr>
          <p:cNvSpPr>
            <a:spLocks xmlns:a="http://schemas.openxmlformats.org/drawingml/2006/main" noGrp="1"/>
          </p:cNvSpPr>
          <p:nvPr/>
        </p:nvSpPr>
        <p:spPr>
          <a:xfrm xmlns:a="http://schemas.openxmlformats.org/drawingml/2006/main">
            <a:off x="843915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EVALUATE</a:t>
            </a:r>
          </a:p>
        </p:txBody>
      </p:sp>
      <p:sp>
        <p:nvSpPr>
          <p:cNvPr id="24" name="">
            <a:extLst xmlns:a="http://schemas.openxmlformats.org/drawingml/2006/main">
              <a:ext uri="{FF2B5EF4-FFF2-40B4-BE49-F238E27FC236}">
                <a16:creationId xmlns:a16="http://schemas.microsoft.com/office/drawing/2014/main" id="{5079E714-517B-4F4B-8EE5-A57CAE1BED9E}"/>
              </a:ext>
            </a:extLst>
          </p:cNvPr>
          <p:cNvSpPr>
            <a:spLocks xmlns:a="http://schemas.openxmlformats.org/drawingml/2006/main" noGrp="1"/>
          </p:cNvSpPr>
          <p:nvPr/>
        </p:nvSpPr>
        <p:spPr>
          <a:xfrm xmlns:a="http://schemas.openxmlformats.org/drawingml/2006/main">
            <a:off x="843915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predictions and metrics</a:t>
            </a:r>
          </a:p>
        </p:txBody>
      </p:sp>
      <p:sp>
        <p:nvSpPr>
          <p:cNvPr id="25" name="">
            <a:extLst xmlns:a="http://schemas.openxmlformats.org/drawingml/2006/main">
              <a:ext uri="{FF2B5EF4-FFF2-40B4-BE49-F238E27FC236}">
                <a16:creationId xmlns:a16="http://schemas.microsoft.com/office/drawing/2014/main" id="{36FE3188-FB2B-427B-87F0-C96D14059F51}"/>
              </a:ext>
            </a:extLst>
          </p:cNvPr>
          <p:cNvSpPr>
            <a:spLocks xmlns:a="http://schemas.openxmlformats.org/drawingml/2006/main" noGrp="1"/>
          </p:cNvSpPr>
          <p:nvPr/>
        </p:nvSpPr>
        <p:spPr>
          <a:xfrm xmlns:a="http://schemas.openxmlformats.org/drawingml/2006/main">
            <a:off x="10172700" y="2362200"/>
            <a:ext cx="1657350" cy="171450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6DDD8"/>
            </a:solidFill>
            <a:prstDash val="solid"/>
          </a:ln>
        </p:spPr>
      </p:sp>
      <p:sp>
        <p:nvSpPr>
          <p:cNvPr id="26" name="">
            <a:extLst xmlns:a="http://schemas.openxmlformats.org/drawingml/2006/main">
              <a:ext uri="{FF2B5EF4-FFF2-40B4-BE49-F238E27FC236}">
                <a16:creationId xmlns:a16="http://schemas.microsoft.com/office/drawing/2014/main" id="{3C1FFCE8-9CC4-47F9-B825-5925EFD966B2}"/>
              </a:ext>
            </a:extLst>
          </p:cNvPr>
          <p:cNvSpPr>
            <a:spLocks xmlns:a="http://schemas.openxmlformats.org/drawingml/2006/main" noGrp="1"/>
          </p:cNvSpPr>
          <p:nvPr/>
        </p:nvSpPr>
        <p:spPr>
          <a:xfrm xmlns:a="http://schemas.openxmlformats.org/drawingml/2006/main">
            <a:off x="10363200" y="25717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06</a:t>
            </a:r>
          </a:p>
        </p:txBody>
      </p:sp>
      <p:sp>
        <p:nvSpPr>
          <p:cNvPr id="27" name="">
            <a:extLst xmlns:a="http://schemas.openxmlformats.org/drawingml/2006/main">
              <a:ext uri="{FF2B5EF4-FFF2-40B4-BE49-F238E27FC236}">
                <a16:creationId xmlns:a16="http://schemas.microsoft.com/office/drawing/2014/main" id="{632C3167-D434-4751-8F65-50D3AA27F592}"/>
              </a:ext>
            </a:extLst>
          </p:cNvPr>
          <p:cNvSpPr>
            <a:spLocks xmlns:a="http://schemas.openxmlformats.org/drawingml/2006/main" noGrp="1"/>
          </p:cNvSpPr>
          <p:nvPr/>
        </p:nvSpPr>
        <p:spPr>
          <a:xfrm xmlns:a="http://schemas.openxmlformats.org/drawingml/2006/main">
            <a:off x="10363200" y="29622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82F35"/>
                </a:solidFill>
                <a:latin typeface="Helvetica Neue"/>
                <a:ea typeface="Helvetica Neue"/>
                <a:cs typeface="Helvetica Neue"/>
              </a:defRPr>
            </a:pPr>
            <a:r>
              <a:rPr sz="1575" b="1">
                <a:solidFill>
                  <a:srgbClr val="082F35"/>
                </a:solidFill>
                <a:latin typeface="Helvetica Neue"/>
                <a:ea typeface="Helvetica Neue"/>
                <a:cs typeface="Helvetica Neue"/>
              </a:rPr>
              <a:t>SURFACES</a:t>
            </a:r>
          </a:p>
        </p:txBody>
      </p:sp>
      <p:sp>
        <p:nvSpPr>
          <p:cNvPr id="28" name="">
            <a:extLst xmlns:a="http://schemas.openxmlformats.org/drawingml/2006/main">
              <a:ext uri="{FF2B5EF4-FFF2-40B4-BE49-F238E27FC236}">
                <a16:creationId xmlns:a16="http://schemas.microsoft.com/office/drawing/2014/main" id="{E5B213D7-A895-4E2F-A88F-CBCF765DDA24}"/>
              </a:ext>
            </a:extLst>
          </p:cNvPr>
          <p:cNvSpPr>
            <a:spLocks xmlns:a="http://schemas.openxmlformats.org/drawingml/2006/main" noGrp="1"/>
          </p:cNvSpPr>
          <p:nvPr/>
        </p:nvSpPr>
        <p:spPr>
          <a:xfrm xmlns:a="http://schemas.openxmlformats.org/drawingml/2006/main">
            <a:off x="10363200" y="3400425"/>
            <a:ext cx="127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CLI, API, web</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220980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413385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68" name=""/>
          <p:cNvCxnSpPr>
            <a:stCxn xmlns:a="http://schemas.openxmlformats.org/drawingml/2006/main" id="13" idx="3"/>
            <a:endCxn xmlns:a="http://schemas.openxmlformats.org/drawingml/2006/main" id="17" idx="1"/>
          </p:cNvCxnSpPr>
          <p:nvPr/>
        </p:nvCxnSpPr>
        <p:spPr>
          <a:xfrm xmlns:a="http://schemas.openxmlformats.org/drawingml/2006/main">
            <a:off x="605790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69" name=""/>
          <p:cNvCxnSpPr>
            <a:stCxn xmlns:a="http://schemas.openxmlformats.org/drawingml/2006/main" id="17" idx="3"/>
            <a:endCxn xmlns:a="http://schemas.openxmlformats.org/drawingml/2006/main" id="21" idx="1"/>
          </p:cNvCxnSpPr>
          <p:nvPr/>
        </p:nvCxnSpPr>
        <p:spPr>
          <a:xfrm xmlns:a="http://schemas.openxmlformats.org/drawingml/2006/main">
            <a:off x="798195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cxnSp>
        <p:nvCxnSpPr>
          <p:cNvPr id="70" name=""/>
          <p:cNvCxnSpPr>
            <a:stCxn xmlns:a="http://schemas.openxmlformats.org/drawingml/2006/main" id="21" idx="3"/>
            <a:endCxn xmlns:a="http://schemas.openxmlformats.org/drawingml/2006/main" id="25" idx="1"/>
          </p:cNvCxnSpPr>
          <p:nvPr/>
        </p:nvCxnSpPr>
        <p:spPr>
          <a:xfrm xmlns:a="http://schemas.openxmlformats.org/drawingml/2006/main">
            <a:off x="9906000" y="3219450"/>
            <a:ext cx="266700" cy="0"/>
          </a:xfrm>
          <a:prstGeom xmlns:a="http://schemas.openxmlformats.org/drawingml/2006/main" prst="straightConnector1">
            <a:avLst/>
          </a:prstGeom>
          <a:ln xmlns:a="http://schemas.openxmlformats.org/drawingml/2006/main" w="19050">
            <a:solidFill>
              <a:srgbClr val="0C746D"/>
            </a:solidFill>
            <a:prstDash val="solid"/>
            <a:tailEnd type="triangle" w="sm" len="sm"/>
          </a:ln>
        </p:spPr>
      </p:cxnSp>
      <p:sp>
        <p:nvSpPr>
          <p:cNvPr id="34" name="">
            <a:extLst xmlns:a="http://schemas.openxmlformats.org/drawingml/2006/main">
              <a:ext uri="{FF2B5EF4-FFF2-40B4-BE49-F238E27FC236}">
                <a16:creationId xmlns:a16="http://schemas.microsoft.com/office/drawing/2014/main" id="{17379976-8717-4770-959D-84769D025C38}"/>
              </a:ext>
            </a:extLst>
          </p:cNvPr>
          <p:cNvSpPr>
            <a:spLocks xmlns:a="http://schemas.openxmlformats.org/drawingml/2006/main" noGrp="1"/>
          </p:cNvSpPr>
          <p:nvPr/>
        </p:nvSpPr>
        <p:spPr>
          <a:xfrm xmlns:a="http://schemas.openxmlformats.org/drawingml/2006/main">
            <a:off x="1562100" y="4667250"/>
            <a:ext cx="9067800" cy="990600"/>
          </a:xfrm>
          <a:prstGeom xmlns:a="http://schemas.openxmlformats.org/drawingml/2006/main" prst="roundRect">
            <a:avLst>
              <a:gd name="adj" fmla="val 17308"/>
            </a:avLst>
          </a:prstGeom>
          <a:solidFill xmlns:a="http://schemas.openxmlformats.org/drawingml/2006/main">
            <a:srgbClr val="E6F2EF"/>
          </a:solidFill>
          <a:ln xmlns:a="http://schemas.openxmlformats.org/drawingml/2006/main" w="9525">
            <a:solidFill>
              <a:srgbClr val="B8D7D1"/>
            </a:solidFill>
            <a:prstDash val="solid"/>
          </a:ln>
        </p:spPr>
      </p:sp>
      <p:sp>
        <p:nvSpPr>
          <p:cNvPr id="35" name="">
            <a:extLst xmlns:a="http://schemas.openxmlformats.org/drawingml/2006/main">
              <a:ext uri="{FF2B5EF4-FFF2-40B4-BE49-F238E27FC236}">
                <a16:creationId xmlns:a16="http://schemas.microsoft.com/office/drawing/2014/main" id="{219CE870-5016-4C93-8EA4-07E506AD6CA9}"/>
              </a:ext>
            </a:extLst>
          </p:cNvPr>
          <p:cNvSpPr>
            <a:spLocks xmlns:a="http://schemas.openxmlformats.org/drawingml/2006/main" noGrp="1"/>
          </p:cNvSpPr>
          <p:nvPr/>
        </p:nvSpPr>
        <p:spPr>
          <a:xfrm xmlns:a="http://schemas.openxmlformats.org/drawingml/2006/main">
            <a:off x="1847850" y="49149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C746D"/>
                </a:solidFill>
                <a:latin typeface="Helvetica Neue"/>
                <a:ea typeface="Helvetica Neue"/>
                <a:cs typeface="Helvetica Neue"/>
              </a:defRPr>
            </a:pPr>
            <a:r>
              <a:rPr sz="1575" b="1">
                <a:solidFill>
                  <a:srgbClr val="0C746D"/>
                </a:solidFill>
                <a:latin typeface="Helvetica Neue"/>
                <a:ea typeface="Helvetica Neue"/>
                <a:cs typeface="Helvetica Neue"/>
              </a:rPr>
              <a:t>Shared contract</a:t>
            </a:r>
          </a:p>
        </p:txBody>
      </p:sp>
      <p:sp>
        <p:nvSpPr>
          <p:cNvPr id="36" name="">
            <a:extLst xmlns:a="http://schemas.openxmlformats.org/drawingml/2006/main">
              <a:ext uri="{FF2B5EF4-FFF2-40B4-BE49-F238E27FC236}">
                <a16:creationId xmlns:a16="http://schemas.microsoft.com/office/drawing/2014/main" id="{9FCA7148-88A6-41C6-A6BB-B6301FFF4253}"/>
              </a:ext>
            </a:extLst>
          </p:cNvPr>
          <p:cNvSpPr>
            <a:spLocks xmlns:a="http://schemas.openxmlformats.org/drawingml/2006/main" noGrp="1"/>
          </p:cNvSpPr>
          <p:nvPr/>
        </p:nvSpPr>
        <p:spPr>
          <a:xfrm xmlns:a="http://schemas.openxmlformats.org/drawingml/2006/main">
            <a:off x="3638550" y="4848225"/>
            <a:ext cx="661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Training, evaluation, command-line prediction, and API inference call the same preprocessing implementation.</a:t>
            </a:r>
          </a:p>
        </p:txBody>
      </p:sp>
      <p:sp>
        <p:nvSpPr>
          <p:cNvPr id="37" name="">
            <a:extLst xmlns:a="http://schemas.openxmlformats.org/drawingml/2006/main">
              <a:ext uri="{FF2B5EF4-FFF2-40B4-BE49-F238E27FC236}">
                <a16:creationId xmlns:a16="http://schemas.microsoft.com/office/drawing/2014/main" id="{47FAB6F9-5C0A-4280-B967-24FF396932D5}"/>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1273328555"/>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AF9BD3-E7F5-4DB4-AFCD-DDEBB4FBC356}"/>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CURRENT COHORT</a:t>
            </a:r>
          </a:p>
        </p:txBody>
      </p:sp>
      <p:sp>
        <p:nvSpPr>
          <p:cNvPr id="2" name="">
            <a:extLst xmlns:a="http://schemas.openxmlformats.org/drawingml/2006/main">
              <a:ext uri="{FF2B5EF4-FFF2-40B4-BE49-F238E27FC236}">
                <a16:creationId xmlns:a16="http://schemas.microsoft.com/office/drawing/2014/main" id="{66961718-F3B5-4AC7-81EF-8BDC98619744}"/>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Validated datasets pass the subject-level split audit</a:t>
            </a:r>
          </a:p>
        </p:txBody>
      </p:sp>
      <p:sp>
        <p:nvSpPr>
          <p:cNvPr id="3" name="">
            <a:extLst xmlns:a="http://schemas.openxmlformats.org/drawingml/2006/main">
              <a:ext uri="{FF2B5EF4-FFF2-40B4-BE49-F238E27FC236}">
                <a16:creationId xmlns:a16="http://schemas.microsoft.com/office/drawing/2014/main" id="{BA17BAB6-49C8-49F2-8172-7D6FD04B055F}"/>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6A02D5F-8026-441A-8B83-03DD7588C389}"/>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graphicFrame>
        <p:nvGraphicFramePr>
          <p:cNvPr id="14" name=""/>
          <p:cNvGraphicFramePr/>
          <p:nvPr/>
        </p:nvGraphicFramePr>
        <p:xfrm>
          <a:off xmlns:a="http://schemas.openxmlformats.org/drawingml/2006/main" x="609600" y="1809750"/>
          <a:ext xmlns:a="http://schemas.openxmlformats.org/drawingml/2006/main" cx="10972800" cy="3086100"/>
        </p:xfrm>
        <a:graphic xmlns:a="http://schemas.openxmlformats.org/drawingml/2006/main">
          <a:graphicData uri="http://schemas.openxmlformats.org/drawingml/2006/table">
            <a:tbl>
              <a:tblPr/>
              <a:tblGrid>
                <a:gridCol w="1619250"/>
                <a:gridCol w="1143000"/>
                <a:gridCol w="1333500"/>
                <a:gridCol w="1047750"/>
                <a:gridCol w="5829300"/>
              </a:tblGrid>
              <a:tr h="617220">
                <a:tc>
                  <a:txBody>
                    <a:bodyPr/>
                    <a:lstStyle/>
                    <a:p>
                      <a:r>
                        <a:rPr sz="1350" b="1">
                          <a:solidFill>
                            <a:srgbClr val="FFFFFF"/>
                          </a:solidFill>
                          <a:latin typeface="Helvetica Neue"/>
                          <a:ea typeface="Helvetica Neue"/>
                          <a:cs typeface="Helvetica Neue"/>
                        </a:rPr>
                        <a:t>Dataset</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Train</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Validation</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Test</a:t>
                      </a:r>
                    </a:p>
                  </a:txBody>
                  <a:tcPr marL="91440" marR="91440" marT="45720" marB="45720">
                    <a:solidFill>
                      <a:srgbClr val="082F35"/>
                    </a:solidFill>
                  </a:tcPr>
                </a:tc>
                <a:tc>
                  <a:txBody>
                    <a:bodyPr/>
                    <a:lstStyle/>
                    <a:p>
                      <a:r>
                        <a:rPr sz="1350" b="1">
                          <a:solidFill>
                            <a:srgbClr val="FFFFFF"/>
                          </a:solidFill>
                          <a:latin typeface="Helvetica Neue"/>
                          <a:ea typeface="Helvetica Neue"/>
                          <a:cs typeface="Helvetica Neue"/>
                        </a:rPr>
                        <a:t>Audit finding</a:t>
                      </a:r>
                    </a:p>
                  </a:txBody>
                  <a:tcPr marL="91440" marR="91440" marT="45720" marB="45720">
                    <a:solidFill>
                      <a:srgbClr val="082F35"/>
                    </a:solidFill>
                  </a:tcPr>
                </a:tc>
              </a:tr>
              <a:tr h="617220">
                <a:tc>
                  <a:txBody>
                    <a:bodyPr/>
                    <a:lstStyle/>
                    <a:p>
                      <a:r>
                        <a:rPr sz="1275" b="0">
                          <a:solidFill>
                            <a:srgbClr val="153438"/>
                          </a:solidFill>
                          <a:latin typeface="Helvetica Neue"/>
                          <a:ea typeface="Helvetica Neue"/>
                          <a:cs typeface="Helvetica Neue"/>
                        </a:rPr>
                        <a:t>BUSI derivative</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n/a</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n/a</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n/a</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Excluded: provenance cannot be reconstructed</a:t>
                      </a:r>
                    </a:p>
                  </a:txBody>
                  <a:tcPr marL="91440" marR="91440" marT="45720" marB="45720">
                    <a:solidFill>
                      <a:srgbClr val="FFFCF6"/>
                    </a:solidFill>
                  </a:tcPr>
                </a:tc>
              </a:tr>
              <a:tr h="617220">
                <a:tc>
                  <a:txBody>
                    <a:bodyPr/>
                    <a:lstStyle/>
                    <a:p>
                      <a:r>
                        <a:rPr sz="1275" b="0">
                          <a:solidFill>
                            <a:srgbClr val="153438"/>
                          </a:solidFill>
                          <a:latin typeface="Helvetica Neue"/>
                          <a:ea typeface="Helvetica Neue"/>
                          <a:cs typeface="Helvetica Neue"/>
                        </a:rPr>
                        <a:t>OASBUD</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138</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30</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30</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Pass: no subject crosses a partition</a:t>
                      </a:r>
                    </a:p>
                  </a:txBody>
                  <a:tcPr marL="91440" marR="91440" marT="45720" marB="45720">
                    <a:solidFill>
                      <a:srgbClr val="FFFCF6"/>
                    </a:solidFill>
                  </a:tcPr>
                </a:tc>
              </a:tr>
              <a:tr h="617220">
                <a:tc>
                  <a:txBody>
                    <a:bodyPr/>
                    <a:lstStyle/>
                    <a:p>
                      <a:r>
                        <a:rPr sz="1275" b="0">
                          <a:solidFill>
                            <a:srgbClr val="153438"/>
                          </a:solidFill>
                          <a:latin typeface="Helvetica Neue"/>
                          <a:ea typeface="Helvetica Neue"/>
                          <a:cs typeface="Helvetica Neue"/>
                        </a:rPr>
                        <a:t>BrEaST</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164</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33</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32</a:t>
                      </a:r>
                    </a:p>
                  </a:txBody>
                  <a:tcPr marL="91440" marR="91440" marT="45720" marB="45720">
                    <a:solidFill>
                      <a:srgbClr val="FFFCF6"/>
                    </a:solidFill>
                  </a:tcPr>
                </a:tc>
                <a:tc>
                  <a:txBody>
                    <a:bodyPr/>
                    <a:lstStyle/>
                    <a:p>
                      <a:r>
                        <a:rPr sz="1275" b="0">
                          <a:solidFill>
                            <a:srgbClr val="153438"/>
                          </a:solidFill>
                          <a:latin typeface="Helvetica Neue"/>
                          <a:ea typeface="Helvetica Neue"/>
                          <a:cs typeface="Helvetica Neue"/>
                        </a:rPr>
                        <a:t>Pass: no subject crosses a partition</a:t>
                      </a:r>
                    </a:p>
                  </a:txBody>
                  <a:tcPr marL="91440" marR="91440" marT="45720" marB="45720">
                    <a:solidFill>
                      <a:srgbClr val="FFFCF6"/>
                    </a:solidFill>
                  </a:tcPr>
                </a:tc>
              </a:tr>
              <a:tr h="617220">
                <a:tc>
                  <a:txBody>
                    <a:bodyPr/>
                    <a:lstStyle/>
                    <a:p>
                      <a:r>
                        <a:rPr sz="1275" b="1">
                          <a:solidFill>
                            <a:srgbClr val="0C746D"/>
                          </a:solidFill>
                          <a:latin typeface="Helvetica Neue"/>
                          <a:ea typeface="Helvetica Neue"/>
                          <a:cs typeface="Helvetica Neue"/>
                        </a:rPr>
                        <a:t>Validated</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302</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63</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62</a:t>
                      </a:r>
                    </a:p>
                  </a:txBody>
                  <a:tcPr marL="91440" marR="91440" marT="45720" marB="45720">
                    <a:solidFill>
                      <a:srgbClr val="D7EEE9"/>
                    </a:solidFill>
                  </a:tcPr>
                </a:tc>
                <a:tc>
                  <a:txBody>
                    <a:bodyPr/>
                    <a:lstStyle/>
                    <a:p>
                      <a:r>
                        <a:rPr sz="1275" b="1">
                          <a:solidFill>
                            <a:srgbClr val="0C746D"/>
                          </a:solidFill>
                          <a:latin typeface="Helvetica Neue"/>
                          <a:ea typeface="Helvetica Neue"/>
                          <a:cs typeface="Helvetica Neue"/>
                        </a:rPr>
                        <a:t>Pass: local cohort evidence</a:t>
                      </a:r>
                    </a:p>
                  </a:txBody>
                  <a:tcPr marL="91440" marR="91440" marT="45720" marB="45720">
                    <a:solidFill>
                      <a:srgbClr val="D7EEE9"/>
                    </a:solidFill>
                  </a:tcPr>
                </a:tc>
              </a:tr>
            </a:tbl>
          </a:graphicData>
        </a:graphic>
      </p:graphicFrame>
      <p:sp>
        <p:nvSpPr>
          <p:cNvPr id="6" name="">
            <a:extLst xmlns:a="http://schemas.openxmlformats.org/drawingml/2006/main">
              <a:ext uri="{FF2B5EF4-FFF2-40B4-BE49-F238E27FC236}">
                <a16:creationId xmlns:a16="http://schemas.microsoft.com/office/drawing/2014/main" id="{473A937C-25A1-4D9D-A3C0-4B4C7A592F18}"/>
              </a:ext>
            </a:extLst>
          </p:cNvPr>
          <p:cNvSpPr>
            <a:spLocks xmlns:a="http://schemas.openxmlformats.org/drawingml/2006/main" noGrp="1"/>
          </p:cNvSpPr>
          <p:nvPr/>
        </p:nvSpPr>
        <p:spPr>
          <a:xfrm xmlns:a="http://schemas.openxmlformats.org/drawingml/2006/main">
            <a:off x="609600" y="5162550"/>
            <a:ext cx="10972800" cy="857250"/>
          </a:xfrm>
          <a:prstGeom xmlns:a="http://schemas.openxmlformats.org/drawingml/2006/main" prst="roundRect">
            <a:avLst>
              <a:gd name="adj" fmla="val 20000"/>
            </a:avLst>
          </a:prstGeom>
          <a:solidFill xmlns:a="http://schemas.openxmlformats.org/drawingml/2006/main">
            <a:srgbClr val="F5E8C8"/>
          </a:solidFill>
          <a:ln xmlns:a="http://schemas.openxmlformats.org/drawingml/2006/main" w="9525">
            <a:solidFill>
              <a:srgbClr val="D6B56F"/>
            </a:solidFill>
            <a:prstDash val="solid"/>
          </a:ln>
        </p:spPr>
      </p:sp>
      <p:sp>
        <p:nvSpPr>
          <p:cNvPr id="7" name="">
            <a:extLst xmlns:a="http://schemas.openxmlformats.org/drawingml/2006/main">
              <a:ext uri="{FF2B5EF4-FFF2-40B4-BE49-F238E27FC236}">
                <a16:creationId xmlns:a16="http://schemas.microsoft.com/office/drawing/2014/main" id="{16A4C727-40D8-4F55-88B6-C047D43C0156}"/>
              </a:ext>
            </a:extLst>
          </p:cNvPr>
          <p:cNvSpPr>
            <a:spLocks xmlns:a="http://schemas.openxmlformats.org/drawingml/2006/main" noGrp="1"/>
          </p:cNvSpPr>
          <p:nvPr/>
        </p:nvSpPr>
        <p:spPr>
          <a:xfrm xmlns:a="http://schemas.openxmlformats.org/drawingml/2006/main">
            <a:off x="876300" y="54102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0C746D"/>
                </a:solidFill>
                <a:latin typeface="Helvetica Neue"/>
                <a:ea typeface="Helvetica Neue"/>
                <a:cs typeface="Helvetica Neue"/>
              </a:defRPr>
            </a:pPr>
            <a:r>
              <a:rPr sz="1575" b="1">
                <a:solidFill>
                  <a:srgbClr val="0C746D"/>
                </a:solidFill>
                <a:latin typeface="Helvetica Neue"/>
                <a:ea typeface="Helvetica Neue"/>
                <a:cs typeface="Helvetica Neue"/>
              </a:rPr>
              <a:t>Release gate</a:t>
            </a:r>
          </a:p>
        </p:txBody>
      </p:sp>
      <p:sp>
        <p:nvSpPr>
          <p:cNvPr id="8" name="">
            <a:extLst xmlns:a="http://schemas.openxmlformats.org/drawingml/2006/main">
              <a:ext uri="{FF2B5EF4-FFF2-40B4-BE49-F238E27FC236}">
                <a16:creationId xmlns:a16="http://schemas.microsoft.com/office/drawing/2014/main" id="{FB7A146A-95B4-4EA1-8342-D25543A9E8A5}"/>
              </a:ext>
            </a:extLst>
          </p:cNvPr>
          <p:cNvSpPr>
            <a:spLocks xmlns:a="http://schemas.openxmlformats.org/drawingml/2006/main" noGrp="1"/>
          </p:cNvSpPr>
          <p:nvPr/>
        </p:nvSpPr>
        <p:spPr>
          <a:xfrm xmlns:a="http://schemas.openxmlformats.org/drawingml/2006/main">
            <a:off x="2476500" y="5334000"/>
            <a:ext cx="872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D4920"/>
                </a:solidFill>
                <a:latin typeface="Helvetica Neue"/>
                <a:ea typeface="Helvetica Neue"/>
                <a:cs typeface="Helvetica Neue"/>
              </a:defRPr>
            </a:pPr>
            <a:r>
              <a:rPr sz="1500" b="0">
                <a:solidFill>
                  <a:srgbClr val="5D4920"/>
                </a:solidFill>
                <a:latin typeface="Helvetica Neue"/>
                <a:ea typeface="Helvetica Neue"/>
                <a:cs typeface="Helvetica Neue"/>
              </a:rPr>
              <a:t>The BUSI derivative cannot prove patient separation or reproduce published curation checks, so it remains outside the experiment.</a:t>
            </a:r>
          </a:p>
        </p:txBody>
      </p:sp>
      <p:sp>
        <p:nvSpPr>
          <p:cNvPr id="9" name="">
            <a:extLst xmlns:a="http://schemas.openxmlformats.org/drawingml/2006/main">
              <a:ext uri="{FF2B5EF4-FFF2-40B4-BE49-F238E27FC236}">
                <a16:creationId xmlns:a16="http://schemas.microsoft.com/office/drawing/2014/main" id="{C9C7F9B3-8D92-4E00-8E22-2972E4EA57BD}"/>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outputs/data_audit.json, generated from the supplied local folders</a:t>
            </a:r>
          </a:p>
        </p:txBody>
      </p:sp>
    </p:spTree>
    <p:extLst>
      <p:ext uri="{BB962C8B-B14F-4D97-AF65-F5344CB8AC3E}">
        <p14:creationId xmlns:p14="http://schemas.microsoft.com/office/powerpoint/2010/main" val="2088028892"/>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3F3A7B1-7878-4906-B694-2A2D2AAB9AA0}"/>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EXPERIMENTAL METHOD</a:t>
            </a:r>
          </a:p>
        </p:txBody>
      </p:sp>
      <p:sp>
        <p:nvSpPr>
          <p:cNvPr id="2" name="">
            <a:extLst xmlns:a="http://schemas.openxmlformats.org/drawingml/2006/main">
              <a:ext uri="{FF2B5EF4-FFF2-40B4-BE49-F238E27FC236}">
                <a16:creationId xmlns:a16="http://schemas.microsoft.com/office/drawing/2014/main" id="{EA9825D0-6367-4577-B2AE-05312A0A45FD}"/>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Preprocessing is configurable, shared, and testable</a:t>
            </a:r>
          </a:p>
        </p:txBody>
      </p:sp>
      <p:sp>
        <p:nvSpPr>
          <p:cNvPr id="3" name="">
            <a:extLst xmlns:a="http://schemas.openxmlformats.org/drawingml/2006/main">
              <a:ext uri="{FF2B5EF4-FFF2-40B4-BE49-F238E27FC236}">
                <a16:creationId xmlns:a16="http://schemas.microsoft.com/office/drawing/2014/main" id="{87169D84-3D10-4E37-865C-52AFC9593F2B}"/>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F7D38B9E-9761-4836-A28D-C1C29AC69868}"/>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BFE2CF18-E47C-4EED-BCFD-CD1D9A53B529}"/>
              </a:ext>
            </a:extLst>
          </p:cNvPr>
          <p:cNvSpPr>
            <a:spLocks xmlns:a="http://schemas.openxmlformats.org/drawingml/2006/main" noGrp="1"/>
          </p:cNvSpPr>
          <p:nvPr/>
        </p:nvSpPr>
        <p:spPr>
          <a:xfrm xmlns:a="http://schemas.openxmlformats.org/drawingml/2006/main">
            <a:off x="609600" y="1885950"/>
            <a:ext cx="3429000" cy="2743200"/>
          </a:xfrm>
          <a:prstGeom xmlns:a="http://schemas.openxmlformats.org/drawingml/2006/main" prst="roundRect">
            <a:avLst>
              <a:gd name="adj" fmla="val 6250"/>
            </a:avLst>
          </a:prstGeom>
          <a:solidFill xmlns:a="http://schemas.openxmlformats.org/drawingml/2006/main">
            <a:srgbClr val="FFFCF6"/>
          </a:solidFill>
          <a:ln xmlns:a="http://schemas.openxmlformats.org/drawingml/2006/main" w="9525">
            <a:solidFill>
              <a:srgbClr val="D6DDD8"/>
            </a:solidFill>
            <a:prstDash val="solid"/>
          </a:ln>
        </p:spPr>
      </p:sp>
      <p:sp>
        <p:nvSpPr>
          <p:cNvPr id="6" name="">
            <a:extLst xmlns:a="http://schemas.openxmlformats.org/drawingml/2006/main">
              <a:ext uri="{FF2B5EF4-FFF2-40B4-BE49-F238E27FC236}">
                <a16:creationId xmlns:a16="http://schemas.microsoft.com/office/drawing/2014/main" id="{33D18DE9-6452-4B99-8378-C4DC1EDE8A6A}"/>
              </a:ext>
            </a:extLst>
          </p:cNvPr>
          <p:cNvSpPr>
            <a:spLocks xmlns:a="http://schemas.openxmlformats.org/drawingml/2006/main" noGrp="1"/>
          </p:cNvSpPr>
          <p:nvPr/>
        </p:nvSpPr>
        <p:spPr>
          <a:xfrm xmlns:a="http://schemas.openxmlformats.org/drawingml/2006/main">
            <a:off x="876300" y="21336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A4161A27-CF1C-4FBC-8722-D91F87BE6CC2}"/>
              </a:ext>
            </a:extLst>
          </p:cNvPr>
          <p:cNvSpPr>
            <a:spLocks xmlns:a="http://schemas.openxmlformats.org/drawingml/2006/main" noGrp="1"/>
          </p:cNvSpPr>
          <p:nvPr/>
        </p:nvSpPr>
        <p:spPr>
          <a:xfrm xmlns:a="http://schemas.openxmlformats.org/drawingml/2006/main">
            <a:off x="876300" y="25431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2F35"/>
                </a:solidFill>
                <a:latin typeface="Helvetica Neue"/>
                <a:ea typeface="Helvetica Neue"/>
                <a:cs typeface="Helvetica Neue"/>
              </a:defRPr>
            </a:pPr>
            <a:r>
              <a:rPr sz="1650" b="1">
                <a:solidFill>
                  <a:srgbClr val="082F35"/>
                </a:solidFill>
                <a:latin typeface="Helvetica Neue"/>
                <a:ea typeface="Helvetica Neue"/>
                <a:cs typeface="Helvetica Neue"/>
              </a:rPr>
              <a:t>DIRECT RESIZE</a:t>
            </a:r>
          </a:p>
        </p:txBody>
      </p:sp>
      <p:sp>
        <p:nvSpPr>
          <p:cNvPr id="8" name="">
            <a:extLst xmlns:a="http://schemas.openxmlformats.org/drawingml/2006/main">
              <a:ext uri="{FF2B5EF4-FFF2-40B4-BE49-F238E27FC236}">
                <a16:creationId xmlns:a16="http://schemas.microsoft.com/office/drawing/2014/main" id="{36AB8FBE-696A-4492-94EC-0B54223DF9BB}"/>
              </a:ext>
            </a:extLst>
          </p:cNvPr>
          <p:cNvSpPr>
            <a:spLocks xmlns:a="http://schemas.openxmlformats.org/drawingml/2006/main" noGrp="1"/>
          </p:cNvSpPr>
          <p:nvPr/>
        </p:nvSpPr>
        <p:spPr>
          <a:xfrm xmlns:a="http://schemas.openxmlformats.org/drawingml/2006/main">
            <a:off x="876300" y="3143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Rectangular image is resized directly to 224×224.</a:t>
            </a:r>
          </a:p>
        </p:txBody>
      </p:sp>
      <p:sp>
        <p:nvSpPr>
          <p:cNvPr id="9" name="">
            <a:extLst xmlns:a="http://schemas.openxmlformats.org/drawingml/2006/main">
              <a:ext uri="{FF2B5EF4-FFF2-40B4-BE49-F238E27FC236}">
                <a16:creationId xmlns:a16="http://schemas.microsoft.com/office/drawing/2014/main" id="{30EE687B-E871-4BB0-A2CC-17481B9CB84E}"/>
              </a:ext>
            </a:extLst>
          </p:cNvPr>
          <p:cNvSpPr>
            <a:spLocks xmlns:a="http://schemas.openxmlformats.org/drawingml/2006/main" noGrp="1"/>
          </p:cNvSpPr>
          <p:nvPr/>
        </p:nvSpPr>
        <p:spPr>
          <a:xfrm xmlns:a="http://schemas.openxmlformats.org/drawingml/2006/main">
            <a:off x="876300" y="39433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Comparator. Scaling differs across the two axes.</a:t>
            </a:r>
          </a:p>
        </p:txBody>
      </p:sp>
      <p:sp>
        <p:nvSpPr>
          <p:cNvPr id="10" name="">
            <a:extLst xmlns:a="http://schemas.openxmlformats.org/drawingml/2006/main">
              <a:ext uri="{FF2B5EF4-FFF2-40B4-BE49-F238E27FC236}">
                <a16:creationId xmlns:a16="http://schemas.microsoft.com/office/drawing/2014/main" id="{A03A5468-B3FD-4E57-9FFE-7CF69E327264}"/>
              </a:ext>
            </a:extLst>
          </p:cNvPr>
          <p:cNvSpPr>
            <a:spLocks xmlns:a="http://schemas.openxmlformats.org/drawingml/2006/main" noGrp="1"/>
          </p:cNvSpPr>
          <p:nvPr/>
        </p:nvSpPr>
        <p:spPr>
          <a:xfrm xmlns:a="http://schemas.openxmlformats.org/drawingml/2006/main">
            <a:off x="4343400" y="1885950"/>
            <a:ext cx="3429000" cy="2743200"/>
          </a:xfrm>
          <a:prstGeom xmlns:a="http://schemas.openxmlformats.org/drawingml/2006/main" prst="roundRect">
            <a:avLst>
              <a:gd name="adj" fmla="val 6250"/>
            </a:avLst>
          </a:prstGeom>
          <a:solidFill xmlns:a="http://schemas.openxmlformats.org/drawingml/2006/main">
            <a:srgbClr val="FFFCF6"/>
          </a:solidFill>
          <a:ln xmlns:a="http://schemas.openxmlformats.org/drawingml/2006/main" w="9525">
            <a:solidFill>
              <a:srgbClr val="D6DDD8"/>
            </a:solidFill>
            <a:prstDash val="solid"/>
          </a:ln>
        </p:spPr>
      </p:sp>
      <p:sp>
        <p:nvSpPr>
          <p:cNvPr id="11" name="">
            <a:extLst xmlns:a="http://schemas.openxmlformats.org/drawingml/2006/main">
              <a:ext uri="{FF2B5EF4-FFF2-40B4-BE49-F238E27FC236}">
                <a16:creationId xmlns:a16="http://schemas.microsoft.com/office/drawing/2014/main" id="{316D16C7-A721-4A98-A0AD-806F9BB63623}"/>
              </a:ext>
            </a:extLst>
          </p:cNvPr>
          <p:cNvSpPr>
            <a:spLocks xmlns:a="http://schemas.openxmlformats.org/drawingml/2006/main" noGrp="1"/>
          </p:cNvSpPr>
          <p:nvPr/>
        </p:nvSpPr>
        <p:spPr>
          <a:xfrm xmlns:a="http://schemas.openxmlformats.org/drawingml/2006/main">
            <a:off x="4610100" y="21336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BC812F93-4CCE-4710-B27C-111B09B811C6}"/>
              </a:ext>
            </a:extLst>
          </p:cNvPr>
          <p:cNvSpPr>
            <a:spLocks xmlns:a="http://schemas.openxmlformats.org/drawingml/2006/main" noGrp="1"/>
          </p:cNvSpPr>
          <p:nvPr/>
        </p:nvSpPr>
        <p:spPr>
          <a:xfrm xmlns:a="http://schemas.openxmlformats.org/drawingml/2006/main">
            <a:off x="4610100" y="25431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2F35"/>
                </a:solidFill>
                <a:latin typeface="Helvetica Neue"/>
                <a:ea typeface="Helvetica Neue"/>
                <a:cs typeface="Helvetica Neue"/>
              </a:defRPr>
            </a:pPr>
            <a:r>
              <a:rPr sz="1650" b="1">
                <a:solidFill>
                  <a:srgbClr val="082F35"/>
                </a:solidFill>
                <a:latin typeface="Helvetica Neue"/>
                <a:ea typeface="Helvetica Neue"/>
                <a:cs typeface="Helvetica Neue"/>
              </a:rPr>
              <a:t>CENTRE CROP</a:t>
            </a:r>
          </a:p>
        </p:txBody>
      </p:sp>
      <p:sp>
        <p:nvSpPr>
          <p:cNvPr id="13" name="">
            <a:extLst xmlns:a="http://schemas.openxmlformats.org/drawingml/2006/main">
              <a:ext uri="{FF2B5EF4-FFF2-40B4-BE49-F238E27FC236}">
                <a16:creationId xmlns:a16="http://schemas.microsoft.com/office/drawing/2014/main" id="{08C602E3-CD74-43D8-B523-04C2A669E169}"/>
              </a:ext>
            </a:extLst>
          </p:cNvPr>
          <p:cNvSpPr>
            <a:spLocks xmlns:a="http://schemas.openxmlformats.org/drawingml/2006/main" noGrp="1"/>
          </p:cNvSpPr>
          <p:nvPr/>
        </p:nvSpPr>
        <p:spPr>
          <a:xfrm xmlns:a="http://schemas.openxmlformats.org/drawingml/2006/main">
            <a:off x="4610100" y="3143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A centred square is selected before resizing.</a:t>
            </a:r>
          </a:p>
        </p:txBody>
      </p:sp>
      <p:sp>
        <p:nvSpPr>
          <p:cNvPr id="14" name="">
            <a:extLst xmlns:a="http://schemas.openxmlformats.org/drawingml/2006/main">
              <a:ext uri="{FF2B5EF4-FFF2-40B4-BE49-F238E27FC236}">
                <a16:creationId xmlns:a16="http://schemas.microsoft.com/office/drawing/2014/main" id="{F95D5C15-878A-4B1F-BBDA-BBAA7D5526E5}"/>
              </a:ext>
            </a:extLst>
          </p:cNvPr>
          <p:cNvSpPr>
            <a:spLocks xmlns:a="http://schemas.openxmlformats.org/drawingml/2006/main" noGrp="1"/>
          </p:cNvSpPr>
          <p:nvPr/>
        </p:nvSpPr>
        <p:spPr>
          <a:xfrm xmlns:a="http://schemas.openxmlformats.org/drawingml/2006/main">
            <a:off x="4610100" y="39433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Comparator. Peripheral context may be removed.</a:t>
            </a:r>
          </a:p>
        </p:txBody>
      </p:sp>
      <p:sp>
        <p:nvSpPr>
          <p:cNvPr id="15" name="">
            <a:extLst xmlns:a="http://schemas.openxmlformats.org/drawingml/2006/main">
              <a:ext uri="{FF2B5EF4-FFF2-40B4-BE49-F238E27FC236}">
                <a16:creationId xmlns:a16="http://schemas.microsoft.com/office/drawing/2014/main" id="{B1513C98-B90F-450E-9582-D6F7BC13E735}"/>
              </a:ext>
            </a:extLst>
          </p:cNvPr>
          <p:cNvSpPr>
            <a:spLocks xmlns:a="http://schemas.openxmlformats.org/drawingml/2006/main" noGrp="1"/>
          </p:cNvSpPr>
          <p:nvPr/>
        </p:nvSpPr>
        <p:spPr>
          <a:xfrm xmlns:a="http://schemas.openxmlformats.org/drawingml/2006/main">
            <a:off x="8077200" y="1885950"/>
            <a:ext cx="3429000" cy="2743200"/>
          </a:xfrm>
          <a:prstGeom xmlns:a="http://schemas.openxmlformats.org/drawingml/2006/main" prst="roundRect">
            <a:avLst>
              <a:gd name="adj" fmla="val 6250"/>
            </a:avLst>
          </a:prstGeom>
          <a:solidFill xmlns:a="http://schemas.openxmlformats.org/drawingml/2006/main">
            <a:srgbClr val="E6F2EF"/>
          </a:solidFill>
          <a:ln xmlns:a="http://schemas.openxmlformats.org/drawingml/2006/main" w="9525">
            <a:solidFill>
              <a:srgbClr val="98C8BF"/>
            </a:solidFill>
            <a:prstDash val="solid"/>
          </a:ln>
        </p:spPr>
      </p:sp>
      <p:sp>
        <p:nvSpPr>
          <p:cNvPr id="16" name="">
            <a:extLst xmlns:a="http://schemas.openxmlformats.org/drawingml/2006/main">
              <a:ext uri="{FF2B5EF4-FFF2-40B4-BE49-F238E27FC236}">
                <a16:creationId xmlns:a16="http://schemas.microsoft.com/office/drawing/2014/main" id="{E77CE73A-00A9-46FC-B1AB-E52C06D32E68}"/>
              </a:ext>
            </a:extLst>
          </p:cNvPr>
          <p:cNvSpPr>
            <a:spLocks xmlns:a="http://schemas.openxmlformats.org/drawingml/2006/main" noGrp="1"/>
          </p:cNvSpPr>
          <p:nvPr/>
        </p:nvSpPr>
        <p:spPr>
          <a:xfrm xmlns:a="http://schemas.openxmlformats.org/drawingml/2006/main">
            <a:off x="8343900" y="21336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6D35BDDE-7C4E-4398-BE15-D81B4B584AA4}"/>
              </a:ext>
            </a:extLst>
          </p:cNvPr>
          <p:cNvSpPr>
            <a:spLocks xmlns:a="http://schemas.openxmlformats.org/drawingml/2006/main" noGrp="1"/>
          </p:cNvSpPr>
          <p:nvPr/>
        </p:nvSpPr>
        <p:spPr>
          <a:xfrm xmlns:a="http://schemas.openxmlformats.org/drawingml/2006/main">
            <a:off x="8343900" y="25431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2F35"/>
                </a:solidFill>
                <a:latin typeface="Helvetica Neue"/>
                <a:ea typeface="Helvetica Neue"/>
                <a:cs typeface="Helvetica Neue"/>
              </a:defRPr>
            </a:pPr>
            <a:r>
              <a:rPr sz="1650" b="1">
                <a:solidFill>
                  <a:srgbClr val="082F35"/>
                </a:solidFill>
                <a:latin typeface="Helvetica Neue"/>
                <a:ea typeface="Helvetica Neue"/>
                <a:cs typeface="Helvetica Neue"/>
              </a:rPr>
              <a:t>MASK / FALLBACK + PAD</a:t>
            </a:r>
          </a:p>
        </p:txBody>
      </p:sp>
      <p:sp>
        <p:nvSpPr>
          <p:cNvPr id="18" name="">
            <a:extLst xmlns:a="http://schemas.openxmlformats.org/drawingml/2006/main">
              <a:ext uri="{FF2B5EF4-FFF2-40B4-BE49-F238E27FC236}">
                <a16:creationId xmlns:a16="http://schemas.microsoft.com/office/drawing/2014/main" id="{3616A509-4421-4BFB-8944-771109C90A4E}"/>
              </a:ext>
            </a:extLst>
          </p:cNvPr>
          <p:cNvSpPr>
            <a:spLocks xmlns:a="http://schemas.openxmlformats.org/drawingml/2006/main" noGrp="1"/>
          </p:cNvSpPr>
          <p:nvPr/>
        </p:nvSpPr>
        <p:spPr>
          <a:xfrm xmlns:a="http://schemas.openxmlformats.org/drawingml/2006/main">
            <a:off x="8343900" y="3143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53438"/>
                </a:solidFill>
                <a:latin typeface="Helvetica Neue"/>
                <a:ea typeface="Helvetica Neue"/>
                <a:cs typeface="Helvetica Neue"/>
              </a:defRPr>
            </a:pPr>
            <a:r>
              <a:rPr sz="1500" b="0">
                <a:solidFill>
                  <a:srgbClr val="153438"/>
                </a:solidFill>
                <a:latin typeface="Helvetica Neue"/>
                <a:ea typeface="Helvetica Neue"/>
                <a:cs typeface="Helvetica Neue"/>
              </a:rPr>
              <a:t>Mask box or central 80%, then margin and reflected square padding.</a:t>
            </a:r>
          </a:p>
        </p:txBody>
      </p:sp>
      <p:sp>
        <p:nvSpPr>
          <p:cNvPr id="19" name="">
            <a:extLst xmlns:a="http://schemas.openxmlformats.org/drawingml/2006/main">
              <a:ext uri="{FF2B5EF4-FFF2-40B4-BE49-F238E27FC236}">
                <a16:creationId xmlns:a16="http://schemas.microsoft.com/office/drawing/2014/main" id="{FE47CD3B-E2F7-4D72-8E06-69B15AF59908}"/>
              </a:ext>
            </a:extLst>
          </p:cNvPr>
          <p:cNvSpPr>
            <a:spLocks xmlns:a="http://schemas.openxmlformats.org/drawingml/2006/main" noGrp="1"/>
          </p:cNvSpPr>
          <p:nvPr/>
        </p:nvSpPr>
        <p:spPr>
          <a:xfrm xmlns:a="http://schemas.openxmlformats.org/drawingml/2006/main">
            <a:off x="8343900" y="39433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B706F"/>
                </a:solidFill>
                <a:latin typeface="Helvetica Neue"/>
                <a:ea typeface="Helvetica Neue"/>
                <a:cs typeface="Helvetica Neue"/>
              </a:defRPr>
            </a:pPr>
            <a:r>
              <a:rPr sz="1200" b="0">
                <a:solidFill>
                  <a:srgbClr val="5B706F"/>
                </a:solidFill>
                <a:latin typeface="Helvetica Neue"/>
                <a:ea typeface="Helvetica Neue"/>
                <a:cs typeface="Helvetica Neue"/>
              </a:rPr>
              <a:t>Default research path. The crop retains its aspect ratio.</a:t>
            </a:r>
          </a:p>
        </p:txBody>
      </p:sp>
      <p:sp>
        <p:nvSpPr>
          <p:cNvPr id="20" name="">
            <a:extLst xmlns:a="http://schemas.openxmlformats.org/drawingml/2006/main">
              <a:ext uri="{FF2B5EF4-FFF2-40B4-BE49-F238E27FC236}">
                <a16:creationId xmlns:a16="http://schemas.microsoft.com/office/drawing/2014/main" id="{5843FB61-03E3-4483-B510-9C4154B077DC}"/>
              </a:ext>
            </a:extLst>
          </p:cNvPr>
          <p:cNvSpPr>
            <a:spLocks xmlns:a="http://schemas.openxmlformats.org/drawingml/2006/main" noGrp="1"/>
          </p:cNvSpPr>
          <p:nvPr/>
        </p:nvSpPr>
        <p:spPr>
          <a:xfrm xmlns:a="http://schemas.openxmlformats.org/drawingml/2006/main">
            <a:off x="609600" y="50673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C746D"/>
                </a:solidFill>
                <a:latin typeface="Helvetica Neue"/>
                <a:ea typeface="Helvetica Neue"/>
                <a:cs typeface="Helvetica Neue"/>
              </a:defRPr>
            </a:pPr>
            <a:r>
              <a:rPr sz="1650" b="1">
                <a:solidFill>
                  <a:srgbClr val="0C746D"/>
                </a:solidFill>
                <a:latin typeface="Helvetica Neue"/>
                <a:ea typeface="Helvetica Neue"/>
                <a:cs typeface="Helvetica Neue"/>
              </a:rPr>
              <a:t>Controlled ablation rule</a:t>
            </a:r>
          </a:p>
        </p:txBody>
      </p:sp>
      <p:sp>
        <p:nvSpPr>
          <p:cNvPr id="21" name="">
            <a:extLst xmlns:a="http://schemas.openxmlformats.org/drawingml/2006/main">
              <a:ext uri="{FF2B5EF4-FFF2-40B4-BE49-F238E27FC236}">
                <a16:creationId xmlns:a16="http://schemas.microsoft.com/office/drawing/2014/main" id="{513771C0-4058-498C-8648-510F57DC8428}"/>
              </a:ext>
            </a:extLst>
          </p:cNvPr>
          <p:cNvSpPr>
            <a:spLocks xmlns:a="http://schemas.openxmlformats.org/drawingml/2006/main" noGrp="1"/>
          </p:cNvSpPr>
          <p:nvPr/>
        </p:nvSpPr>
        <p:spPr>
          <a:xfrm xmlns:a="http://schemas.openxmlformats.org/drawingml/2006/main">
            <a:off x="3333750" y="5000625"/>
            <a:ext cx="824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53438"/>
                </a:solidFill>
                <a:latin typeface="Helvetica Neue"/>
                <a:ea typeface="Helvetica Neue"/>
                <a:cs typeface="Helvetica Neue"/>
              </a:defRPr>
            </a:pPr>
            <a:r>
              <a:rPr sz="1575" b="0">
                <a:solidFill>
                  <a:srgbClr val="153438"/>
                </a:solidFill>
                <a:latin typeface="Helvetica Neue"/>
                <a:ea typeface="Helvetica Neue"/>
                <a:cs typeface="Helvetica Neue"/>
              </a:rPr>
              <a:t>Hold the subject partition, architecture, training budget, and random seeds fixed. Change one preprocessing factor at a time.</a:t>
            </a:r>
          </a:p>
        </p:txBody>
      </p:sp>
      <p:sp>
        <p:nvSpPr>
          <p:cNvPr id="22" name="">
            <a:extLst xmlns:a="http://schemas.openxmlformats.org/drawingml/2006/main">
              <a:ext uri="{FF2B5EF4-FFF2-40B4-BE49-F238E27FC236}">
                <a16:creationId xmlns:a16="http://schemas.microsoft.com/office/drawing/2014/main" id="{E9529120-9A72-43E1-AF4B-D8D173E7ECA4}"/>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B706F"/>
                </a:solidFill>
                <a:latin typeface="Helvetica Neue"/>
                <a:ea typeface="Helvetica Neue"/>
                <a:cs typeface="Helvetica Neue"/>
              </a:defRPr>
            </a:pPr>
            <a:r>
              <a:rPr sz="1275" b="0">
                <a:solidFill>
                  <a:srgbClr val="5B706F"/>
                </a:solidFill>
                <a:latin typeface="Helvetica Neue"/>
                <a:ea typeface="Helvetica Neue"/>
                <a:cs typeface="Helvetica Neue"/>
              </a:rPr>
              <a:t>Training augmentation uses horizontal flips and rotations up to 15°. Vertical flips are excluded because image depth has acquisition meaning.</a:t>
            </a:r>
          </a:p>
        </p:txBody>
      </p:sp>
      <p:sp>
        <p:nvSpPr>
          <p:cNvPr id="23" name="">
            <a:extLst xmlns:a="http://schemas.openxmlformats.org/drawingml/2006/main">
              <a:ext uri="{FF2B5EF4-FFF2-40B4-BE49-F238E27FC236}">
                <a16:creationId xmlns:a16="http://schemas.microsoft.com/office/drawing/2014/main" id="{D5B5459D-6419-49A0-B434-247A69883F4A}"/>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1972522371"/>
      </p:ext>
    </p:extLst>
  </p:cSld>
</p:sld>
</file>

<file path=ppt/slides/slide6.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DFB56E-0A50-45F5-92D7-D640A7C9DDBA}"/>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EXECUTABLE CHECKPOINT</a:t>
            </a:r>
          </a:p>
        </p:txBody>
      </p:sp>
      <p:sp>
        <p:nvSpPr>
          <p:cNvPr id="2" name="">
            <a:extLst xmlns:a="http://schemas.openxmlformats.org/drawingml/2006/main">
              <a:ext uri="{FF2B5EF4-FFF2-40B4-BE49-F238E27FC236}">
                <a16:creationId xmlns:a16="http://schemas.microsoft.com/office/drawing/2014/main" id="{97FB1411-2718-4946-83B8-B1A065C0F20F}"/>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Audited test performance</a:t>
            </a:r>
          </a:p>
        </p:txBody>
      </p:sp>
      <p:sp>
        <p:nvSpPr>
          <p:cNvPr id="3" name="">
            <a:extLst xmlns:a="http://schemas.openxmlformats.org/drawingml/2006/main">
              <a:ext uri="{FF2B5EF4-FFF2-40B4-BE49-F238E27FC236}">
                <a16:creationId xmlns:a16="http://schemas.microsoft.com/office/drawing/2014/main" id="{69ED04FD-F909-4545-B9BA-3660D41C0DD9}"/>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828A053D-A639-42BE-8CC6-7E38CED33ABB}"/>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graphicFrame>
        <p:nvGraphicFramePr>
          <p:cNvPr id="16" name="Chart"/>
          <p:cNvGraphicFramePr/>
          <p:nvPr/>
        </p:nvGraphicFramePr>
        <p:xfrm>
          <a:off xmlns:a="http://schemas.openxmlformats.org/drawingml/2006/main" x="514350" y="1866900"/>
          <a:ext xmlns:a="http://schemas.openxmlformats.org/drawingml/2006/main" cx="6572250" cy="3638550"/>
        </p:xfrm>
        <a:graphic xmlns:a="http://schemas.openxmlformats.org/drawingml/2006/main">
          <a:graphicData uri="http://schemas.openxmlformats.org/drawingml/2006/chart">
            <c:chart xmlns:r="http://schemas.openxmlformats.org/officeDocument/2006/relationships" xmlns:c="http://schemas.openxmlformats.org/drawingml/2006/chart" r:id="R9a127d72ad8a4ae1"/>
          </a:graphicData>
        </a:graphic>
      </p:graphicFrame>
      <p:sp>
        <p:nvSpPr>
          <p:cNvPr id="6" name="">
            <a:extLst xmlns:a="http://schemas.openxmlformats.org/drawingml/2006/main">
              <a:ext uri="{FF2B5EF4-FFF2-40B4-BE49-F238E27FC236}">
                <a16:creationId xmlns:a16="http://schemas.microsoft.com/office/drawing/2014/main" id="{5600539F-0EA3-4D25-A654-62822BB9A5C0}"/>
              </a:ext>
            </a:extLst>
          </p:cNvPr>
          <p:cNvSpPr>
            <a:spLocks xmlns:a="http://schemas.openxmlformats.org/drawingml/2006/main" noGrp="1"/>
          </p:cNvSpPr>
          <p:nvPr/>
        </p:nvSpPr>
        <p:spPr>
          <a:xfrm xmlns:a="http://schemas.openxmlformats.org/drawingml/2006/main">
            <a:off x="7600950" y="19240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0C746D"/>
                </a:solidFill>
                <a:latin typeface="Helvetica Neue"/>
                <a:ea typeface="Helvetica Neue"/>
                <a:cs typeface="Helvetica Neue"/>
              </a:defRPr>
            </a:pPr>
            <a:r>
              <a:rPr sz="1275" b="1">
                <a:solidFill>
                  <a:srgbClr val="0C746D"/>
                </a:solidFill>
                <a:latin typeface="Helvetica Neue"/>
                <a:ea typeface="Helvetica Neue"/>
                <a:cs typeface="Helvetica Neue"/>
              </a:rPr>
              <a:t>CONFUSION MATRIX</a:t>
            </a:r>
          </a:p>
        </p:txBody>
      </p:sp>
      <p:graphicFrame>
        <p:nvGraphicFramePr>
          <p:cNvPr id="18" name=""/>
          <p:cNvGraphicFramePr/>
          <p:nvPr/>
        </p:nvGraphicFramePr>
        <p:xfrm>
          <a:off xmlns:a="http://schemas.openxmlformats.org/drawingml/2006/main" x="7562850" y="2324100"/>
          <a:ext xmlns:a="http://schemas.openxmlformats.org/drawingml/2006/main" cx="4019550" cy="1981200"/>
        </p:xfrm>
        <a:graphic xmlns:a="http://schemas.openxmlformats.org/drawingml/2006/main">
          <a:graphicData uri="http://schemas.openxmlformats.org/drawingml/2006/table">
            <a:tbl>
              <a:tblPr/>
              <a:tblGrid>
                <a:gridCol w="1733550"/>
                <a:gridCol w="1143000"/>
                <a:gridCol w="1143000"/>
              </a:tblGrid>
              <a:tr h="660400">
                <a:tc>
                  <a:txBody>
                    <a:bodyPr/>
                    <a:lstStyle/>
                    <a:p>
                      <a:r>
                        <a:rPr sz="1275" b="1">
                          <a:solidFill>
                            <a:srgbClr val="FFFFFF"/>
                          </a:solidFill>
                          <a:latin typeface="Helvetica Neue"/>
                          <a:ea typeface="Helvetica Neue"/>
                          <a:cs typeface="Helvetica Neue"/>
                        </a:rPr>
                        <a:t>Actual / predicted</a:t>
                      </a:r>
                    </a:p>
                  </a:txBody>
                  <a:tcPr marL="91440" marR="91440" marT="45720" marB="45720">
                    <a:solidFill>
                      <a:srgbClr val="082F35"/>
                    </a:solidFill>
                  </a:tcPr>
                </a:tc>
                <a:tc>
                  <a:txBody>
                    <a:bodyPr/>
                    <a:lstStyle/>
                    <a:p>
                      <a:r>
                        <a:rPr sz="1275" b="1">
                          <a:solidFill>
                            <a:srgbClr val="FFFFFF"/>
                          </a:solidFill>
                          <a:latin typeface="Helvetica Neue"/>
                          <a:ea typeface="Helvetica Neue"/>
                          <a:cs typeface="Helvetica Neue"/>
                        </a:rPr>
                        <a:t>Benign</a:t>
                      </a:r>
                    </a:p>
                  </a:txBody>
                  <a:tcPr marL="91440" marR="91440" marT="45720" marB="45720">
                    <a:solidFill>
                      <a:srgbClr val="082F35"/>
                    </a:solidFill>
                  </a:tcPr>
                </a:tc>
                <a:tc>
                  <a:txBody>
                    <a:bodyPr/>
                    <a:lstStyle/>
                    <a:p>
                      <a:r>
                        <a:rPr sz="1275" b="1">
                          <a:solidFill>
                            <a:srgbClr val="FFFFFF"/>
                          </a:solidFill>
                          <a:latin typeface="Helvetica Neue"/>
                          <a:ea typeface="Helvetica Neue"/>
                          <a:cs typeface="Helvetica Neue"/>
                        </a:rPr>
                        <a:t>Malignant</a:t>
                      </a:r>
                    </a:p>
                  </a:txBody>
                  <a:tcPr marL="91440" marR="91440" marT="45720" marB="45720">
                    <a:solidFill>
                      <a:srgbClr val="082F35"/>
                    </a:solidFill>
                  </a:tcPr>
                </a:tc>
              </a:tr>
              <a:tr h="660400">
                <a:tc>
                  <a:txBody>
                    <a:bodyPr/>
                    <a:lstStyle/>
                    <a:p>
                      <a:r>
                        <a:rPr sz="1200" b="0">
                          <a:solidFill>
                            <a:srgbClr val="153438"/>
                          </a:solidFill>
                          <a:latin typeface="Helvetica Neue"/>
                          <a:ea typeface="Helvetica Neue"/>
                          <a:cs typeface="Helvetica Neue"/>
                        </a:rPr>
                        <a:t>Benign</a:t>
                      </a:r>
                    </a:p>
                  </a:txBody>
                  <a:tcPr marL="91440" marR="91440" marT="45720" marB="45720">
                    <a:solidFill>
                      <a:srgbClr val="FFFCF6"/>
                    </a:solidFill>
                  </a:tcPr>
                </a:tc>
                <a:tc>
                  <a:txBody>
                    <a:bodyPr/>
                    <a:lstStyle/>
                    <a:p>
                      <a:r>
                        <a:rPr sz="1200" b="0">
                          <a:solidFill>
                            <a:srgbClr val="153438"/>
                          </a:solidFill>
                          <a:latin typeface="Helvetica Neue"/>
                          <a:ea typeface="Helvetica Neue"/>
                          <a:cs typeface="Helvetica Neue"/>
                        </a:rPr>
                        <a:t>21</a:t>
                      </a:r>
                    </a:p>
                  </a:txBody>
                  <a:tcPr marL="91440" marR="91440" marT="45720" marB="45720">
                    <a:solidFill>
                      <a:srgbClr val="D7EEE9"/>
                    </a:solidFill>
                  </a:tcPr>
                </a:tc>
                <a:tc>
                  <a:txBody>
                    <a:bodyPr/>
                    <a:lstStyle/>
                    <a:p>
                      <a:r>
                        <a:rPr sz="1200" b="0">
                          <a:solidFill>
                            <a:srgbClr val="153438"/>
                          </a:solidFill>
                          <a:latin typeface="Helvetica Neue"/>
                          <a:ea typeface="Helvetica Neue"/>
                          <a:cs typeface="Helvetica Neue"/>
                        </a:rPr>
                        <a:t>12</a:t>
                      </a:r>
                    </a:p>
                  </a:txBody>
                  <a:tcPr marL="91440" marR="91440" marT="45720" marB="45720">
                    <a:solidFill>
                      <a:srgbClr val="F3DEDA"/>
                    </a:solidFill>
                  </a:tcPr>
                </a:tc>
              </a:tr>
              <a:tr h="660400">
                <a:tc>
                  <a:txBody>
                    <a:bodyPr/>
                    <a:lstStyle/>
                    <a:p>
                      <a:r>
                        <a:rPr sz="1200" b="0">
                          <a:solidFill>
                            <a:srgbClr val="153438"/>
                          </a:solidFill>
                          <a:latin typeface="Helvetica Neue"/>
                          <a:ea typeface="Helvetica Neue"/>
                          <a:cs typeface="Helvetica Neue"/>
                        </a:rPr>
                        <a:t>Malignant</a:t>
                      </a:r>
                    </a:p>
                  </a:txBody>
                  <a:tcPr marL="91440" marR="91440" marT="45720" marB="45720">
                    <a:solidFill>
                      <a:srgbClr val="FFFCF6"/>
                    </a:solidFill>
                  </a:tcPr>
                </a:tc>
                <a:tc>
                  <a:txBody>
                    <a:bodyPr/>
                    <a:lstStyle/>
                    <a:p>
                      <a:r>
                        <a:rPr sz="1200" b="0">
                          <a:solidFill>
                            <a:srgbClr val="153438"/>
                          </a:solidFill>
                          <a:latin typeface="Helvetica Neue"/>
                          <a:ea typeface="Helvetica Neue"/>
                          <a:cs typeface="Helvetica Neue"/>
                        </a:rPr>
                        <a:t>8</a:t>
                      </a:r>
                    </a:p>
                  </a:txBody>
                  <a:tcPr marL="91440" marR="91440" marT="45720" marB="45720">
                    <a:solidFill>
                      <a:srgbClr val="F3DEDA"/>
                    </a:solidFill>
                  </a:tcPr>
                </a:tc>
                <a:tc>
                  <a:txBody>
                    <a:bodyPr/>
                    <a:lstStyle/>
                    <a:p>
                      <a:r>
                        <a:rPr sz="1200" b="0">
                          <a:solidFill>
                            <a:srgbClr val="153438"/>
                          </a:solidFill>
                          <a:latin typeface="Helvetica Neue"/>
                          <a:ea typeface="Helvetica Neue"/>
                          <a:cs typeface="Helvetica Neue"/>
                        </a:rPr>
                        <a:t>21</a:t>
                      </a:r>
                    </a:p>
                  </a:txBody>
                  <a:tcPr marL="91440" marR="91440" marT="45720" marB="45720">
                    <a:solidFill>
                      <a:srgbClr val="D7EEE9"/>
                    </a:solidFill>
                  </a:tcPr>
                </a:tc>
              </a:tr>
            </a:tbl>
          </a:graphicData>
        </a:graphic>
      </p:graphicFrame>
      <p:sp>
        <p:nvSpPr>
          <p:cNvPr id="8" name="">
            <a:extLst xmlns:a="http://schemas.openxmlformats.org/drawingml/2006/main">
              <a:ext uri="{FF2B5EF4-FFF2-40B4-BE49-F238E27FC236}">
                <a16:creationId xmlns:a16="http://schemas.microsoft.com/office/drawing/2014/main" id="{679E6B37-A3A7-4AB0-9D93-A06D724746E7}"/>
              </a:ext>
            </a:extLst>
          </p:cNvPr>
          <p:cNvSpPr>
            <a:spLocks xmlns:a="http://schemas.openxmlformats.org/drawingml/2006/main" noGrp="1"/>
          </p:cNvSpPr>
          <p:nvPr/>
        </p:nvSpPr>
        <p:spPr>
          <a:xfrm xmlns:a="http://schemas.openxmlformats.org/drawingml/2006/main">
            <a:off x="7562850" y="4572000"/>
            <a:ext cx="4019550" cy="990600"/>
          </a:xfrm>
          <a:prstGeom xmlns:a="http://schemas.openxmlformats.org/drawingml/2006/main" prst="roundRect">
            <a:avLst>
              <a:gd name="adj" fmla="val 17308"/>
            </a:avLst>
          </a:prstGeom>
          <a:solidFill xmlns:a="http://schemas.openxmlformats.org/drawingml/2006/main">
            <a:srgbClr val="F5E8C8"/>
          </a:solidFill>
          <a:ln xmlns:a="http://schemas.openxmlformats.org/drawingml/2006/main" w="9525">
            <a:solidFill>
              <a:srgbClr val="D6B56F"/>
            </a:solidFill>
            <a:prstDash val="solid"/>
          </a:ln>
        </p:spPr>
      </p:sp>
      <p:sp>
        <p:nvSpPr>
          <p:cNvPr id="9" name="">
            <a:extLst xmlns:a="http://schemas.openxmlformats.org/drawingml/2006/main">
              <a:ext uri="{FF2B5EF4-FFF2-40B4-BE49-F238E27FC236}">
                <a16:creationId xmlns:a16="http://schemas.microsoft.com/office/drawing/2014/main" id="{39E8C999-AE44-4F40-8C1F-06DC4AE569C8}"/>
              </a:ext>
            </a:extLst>
          </p:cNvPr>
          <p:cNvSpPr>
            <a:spLocks xmlns:a="http://schemas.openxmlformats.org/drawingml/2006/main" noGrp="1"/>
          </p:cNvSpPr>
          <p:nvPr/>
        </p:nvSpPr>
        <p:spPr>
          <a:xfrm xmlns:a="http://schemas.openxmlformats.org/drawingml/2006/main">
            <a:off x="7810500" y="478155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6E4C08"/>
                </a:solidFill>
                <a:latin typeface="Helvetica Neue"/>
                <a:ea typeface="Helvetica Neue"/>
                <a:cs typeface="Helvetica Neue"/>
              </a:defRPr>
            </a:pPr>
            <a:r>
              <a:rPr sz="1425" b="1">
                <a:solidFill>
                  <a:srgbClr val="6E4C08"/>
                </a:solidFill>
                <a:latin typeface="Helvetica Neue"/>
                <a:ea typeface="Helvetica Neue"/>
                <a:cs typeface="Helvetica Neue"/>
              </a:rPr>
              <a:t>62 test images, EfficientNet-B0</a:t>
            </a:r>
          </a:p>
        </p:txBody>
      </p:sp>
      <p:sp>
        <p:nvSpPr>
          <p:cNvPr id="10" name="">
            <a:extLst xmlns:a="http://schemas.openxmlformats.org/drawingml/2006/main">
              <a:ext uri="{FF2B5EF4-FFF2-40B4-BE49-F238E27FC236}">
                <a16:creationId xmlns:a16="http://schemas.microsoft.com/office/drawing/2014/main" id="{44A4AA5D-0276-4A20-9205-28F13C3AFAFE}"/>
              </a:ext>
            </a:extLst>
          </p:cNvPr>
          <p:cNvSpPr>
            <a:spLocks xmlns:a="http://schemas.openxmlformats.org/drawingml/2006/main" noGrp="1"/>
          </p:cNvSpPr>
          <p:nvPr/>
        </p:nvSpPr>
        <p:spPr>
          <a:xfrm xmlns:a="http://schemas.openxmlformats.org/drawingml/2006/main">
            <a:off x="7810500" y="51435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4920"/>
                </a:solidFill>
                <a:latin typeface="Helvetica Neue"/>
                <a:ea typeface="Helvetica Neue"/>
                <a:cs typeface="Helvetica Neue"/>
              </a:defRPr>
            </a:pPr>
            <a:r>
              <a:rPr sz="1200" b="0">
                <a:solidFill>
                  <a:srgbClr val="5D4920"/>
                </a:solidFill>
                <a:latin typeface="Helvetica Neue"/>
                <a:ea typeface="Helvetica Neue"/>
                <a:cs typeface="Helvetica Neue"/>
              </a:rPr>
              <a:t>Local cohort evidence only. Clinical validation is outside scope.</a:t>
            </a:r>
          </a:p>
        </p:txBody>
      </p:sp>
      <p:sp>
        <p:nvSpPr>
          <p:cNvPr id="11" name="">
            <a:extLst xmlns:a="http://schemas.openxmlformats.org/drawingml/2006/main">
              <a:ext uri="{FF2B5EF4-FFF2-40B4-BE49-F238E27FC236}">
                <a16:creationId xmlns:a16="http://schemas.microsoft.com/office/drawing/2014/main" id="{818E65B6-D71E-4824-8DD5-696E3D9F2F11}"/>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outputs/metrics.json and outputs/predictions.csv</a:t>
            </a:r>
          </a:p>
        </p:txBody>
      </p:sp>
    </p:spTree>
    <p:extLst>
      <p:ext uri="{BB962C8B-B14F-4D97-AF65-F5344CB8AC3E}">
        <p14:creationId xmlns:p14="http://schemas.microsoft.com/office/powerpoint/2010/main" val="601009748"/>
      </p:ext>
    </p:extLst>
  </p:cSld>
</p:sld>
</file>

<file path=ppt/slides/slide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18CEB1-1EB6-441A-B8BC-CB733A7D4466}"/>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WHAT CHANGED</a:t>
            </a:r>
          </a:p>
        </p:txBody>
      </p:sp>
      <p:sp>
        <p:nvSpPr>
          <p:cNvPr id="2" name="">
            <a:extLst xmlns:a="http://schemas.openxmlformats.org/drawingml/2006/main">
              <a:ext uri="{FF2B5EF4-FFF2-40B4-BE49-F238E27FC236}">
                <a16:creationId xmlns:a16="http://schemas.microsoft.com/office/drawing/2014/main" id="{FBE8100A-A364-45C5-9A5F-7BC18BC8BBA3}"/>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The project now leaves a verifiable evidence trail</a:t>
            </a:r>
          </a:p>
        </p:txBody>
      </p:sp>
      <p:sp>
        <p:nvSpPr>
          <p:cNvPr id="3" name="">
            <a:extLst xmlns:a="http://schemas.openxmlformats.org/drawingml/2006/main">
              <a:ext uri="{FF2B5EF4-FFF2-40B4-BE49-F238E27FC236}">
                <a16:creationId xmlns:a16="http://schemas.microsoft.com/office/drawing/2014/main" id="{6CD69102-A23D-48D3-8A96-D1CA89466A89}"/>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77E6CFB0-A6E7-4C02-9393-7700A048D49E}"/>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sp>
        <p:nvSpPr>
          <p:cNvPr id="5" name="">
            <a:extLst xmlns:a="http://schemas.openxmlformats.org/drawingml/2006/main">
              <a:ext uri="{FF2B5EF4-FFF2-40B4-BE49-F238E27FC236}">
                <a16:creationId xmlns:a16="http://schemas.microsoft.com/office/drawing/2014/main" id="{60496B67-9EFC-4695-BEC8-063BD5C908EA}"/>
              </a:ext>
            </a:extLst>
          </p:cNvPr>
          <p:cNvSpPr>
            <a:spLocks xmlns:a="http://schemas.openxmlformats.org/drawingml/2006/main" noGrp="1"/>
          </p:cNvSpPr>
          <p:nvPr/>
        </p:nvSpPr>
        <p:spPr>
          <a:xfrm xmlns:a="http://schemas.openxmlformats.org/drawingml/2006/main">
            <a:off x="704850" y="1809750"/>
            <a:ext cx="712470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Subject-level audit is regenerated before training. Failed audits stop by default.</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Python, NumPy, PyTorch, and CUDA seeds are set and checkpoint configuration is saved.</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Evaluation writes one row per image plus metrics, figures, audit status, and checksums.</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Mask discovery, crop dimensions, audit failure, and the non-clinical API boundary have regression tests.</a:t>
            </a:r>
          </a:p>
          <a:p xmlns:a="http://schemas.openxmlformats.org/drawingml/2006/main">
            <a:pPr marL="254000" indent="-127000">
              <a:spcAft>
                <a:spcPts val="1100"/>
              </a:spcAft>
              <a:buChar char="•"/>
              <a:defRPr sz="1650">
                <a:solidFill>
                  <a:srgbClr val="153438"/>
                </a:solidFill>
                <a:latin typeface="Helvetica Neue"/>
                <a:ea typeface="Helvetica Neue"/>
                <a:cs typeface="Helvetica Neue"/>
              </a:defRPr>
            </a:pPr>
            <a:r>
              <a:rPr sz="1650">
                <a:solidFill>
                  <a:srgbClr val="153438"/>
                </a:solidFill>
                <a:latin typeface="Helvetica Neue"/>
                <a:ea typeface="Helvetica Neue"/>
                <a:cs typeface="Helvetica Neue"/>
              </a:rPr>
              <a:t>The dissertation, notebook, slides, README, and web interface use the same current evidence status.</a:t>
            </a:r>
          </a:p>
        </p:txBody>
      </p:sp>
      <p:sp>
        <p:nvSpPr>
          <p:cNvPr id="6" name="">
            <a:extLst xmlns:a="http://schemas.openxmlformats.org/drawingml/2006/main">
              <a:ext uri="{FF2B5EF4-FFF2-40B4-BE49-F238E27FC236}">
                <a16:creationId xmlns:a16="http://schemas.microsoft.com/office/drawing/2014/main" id="{57E80EDE-95C6-48A4-9F89-48836069E67B}"/>
              </a:ext>
            </a:extLst>
          </p:cNvPr>
          <p:cNvSpPr>
            <a:spLocks xmlns:a="http://schemas.openxmlformats.org/drawingml/2006/main" noGrp="1"/>
          </p:cNvSpPr>
          <p:nvPr/>
        </p:nvSpPr>
        <p:spPr>
          <a:xfrm xmlns:a="http://schemas.openxmlformats.org/drawingml/2006/main">
            <a:off x="8229600" y="1809750"/>
            <a:ext cx="3352800" cy="3886200"/>
          </a:xfrm>
          <a:prstGeom xmlns:a="http://schemas.openxmlformats.org/drawingml/2006/main" prst="roundRect">
            <a:avLst>
              <a:gd name="adj" fmla="val 5114"/>
            </a:avLst>
          </a:prstGeom>
          <a:solidFill xmlns:a="http://schemas.openxmlformats.org/drawingml/2006/main">
            <a:srgbClr val="082F35"/>
          </a:solidFill>
          <a:ln xmlns:a="http://schemas.openxmlformats.org/drawingml/2006/main" w="9525">
            <a:solidFill>
              <a:srgbClr val="082F35"/>
            </a:solidFill>
            <a:prstDash val="solid"/>
          </a:ln>
        </p:spPr>
      </p:sp>
      <p:sp>
        <p:nvSpPr>
          <p:cNvPr id="7" name="">
            <a:extLst xmlns:a="http://schemas.openxmlformats.org/drawingml/2006/main">
              <a:ext uri="{FF2B5EF4-FFF2-40B4-BE49-F238E27FC236}">
                <a16:creationId xmlns:a16="http://schemas.microsoft.com/office/drawing/2014/main" id="{0C1E860D-74BA-4C52-905F-7C1BE989312A}"/>
              </a:ext>
            </a:extLst>
          </p:cNvPr>
          <p:cNvSpPr>
            <a:spLocks xmlns:a="http://schemas.openxmlformats.org/drawingml/2006/main" noGrp="1"/>
          </p:cNvSpPr>
          <p:nvPr/>
        </p:nvSpPr>
        <p:spPr>
          <a:xfrm xmlns:a="http://schemas.openxmlformats.org/drawingml/2006/main">
            <a:off x="8553450" y="2143125"/>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8DD8CE"/>
                </a:solidFill>
                <a:latin typeface="Helvetica Neue"/>
                <a:ea typeface="Helvetica Neue"/>
                <a:cs typeface="Helvetica Neue"/>
              </a:defRPr>
            </a:pPr>
            <a:r>
              <a:rPr sz="1200" b="1">
                <a:solidFill>
                  <a:srgbClr val="8DD8CE"/>
                </a:solidFill>
                <a:latin typeface="Helvetica Neue"/>
                <a:ea typeface="Helvetica Neue"/>
                <a:cs typeface="Helvetica Neue"/>
              </a:rPr>
              <a:t>RELEASE ARTIFACTS</a:t>
            </a:r>
          </a:p>
        </p:txBody>
      </p:sp>
      <p:sp>
        <p:nvSpPr>
          <p:cNvPr id="8" name="">
            <a:extLst xmlns:a="http://schemas.openxmlformats.org/drawingml/2006/main">
              <a:ext uri="{FF2B5EF4-FFF2-40B4-BE49-F238E27FC236}">
                <a16:creationId xmlns:a16="http://schemas.microsoft.com/office/drawing/2014/main" id="{2B322A30-DE4C-4FBA-AC27-884FCB3FF685}"/>
              </a:ext>
            </a:extLst>
          </p:cNvPr>
          <p:cNvSpPr>
            <a:spLocks xmlns:a="http://schemas.openxmlformats.org/drawingml/2006/main" noGrp="1"/>
          </p:cNvSpPr>
          <p:nvPr/>
        </p:nvSpPr>
        <p:spPr>
          <a:xfrm xmlns:a="http://schemas.openxmlformats.org/drawingml/2006/main">
            <a:off x="8553450" y="2676525"/>
            <a:ext cx="27241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data_audit.json</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predictions.csv</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metrics.json</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extended_evaluation.json</a:t>
            </a:r>
          </a:p>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report figures</a:t>
            </a:r>
          </a:p>
        </p:txBody>
      </p:sp>
      <p:sp>
        <p:nvSpPr>
          <p:cNvPr id="9" name="">
            <a:extLst xmlns:a="http://schemas.openxmlformats.org/drawingml/2006/main">
              <a:ext uri="{FF2B5EF4-FFF2-40B4-BE49-F238E27FC236}">
                <a16:creationId xmlns:a16="http://schemas.microsoft.com/office/drawing/2014/main" id="{D78E4C94-D68E-4D6F-8519-6CB7020F43E8}"/>
              </a:ext>
            </a:extLst>
          </p:cNvPr>
          <p:cNvSpPr>
            <a:spLocks xmlns:a="http://schemas.openxmlformats.org/drawingml/2006/main" noGrp="1"/>
          </p:cNvSpPr>
          <p:nvPr/>
        </p:nvSpPr>
        <p:spPr>
          <a:xfrm xmlns:a="http://schemas.openxmlformats.org/drawingml/2006/main">
            <a:off x="8553450" y="4914900"/>
            <a:ext cx="2628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D7E8E3"/>
                </a:solidFill>
                <a:latin typeface="Helvetica Neue"/>
                <a:ea typeface="Helvetica Neue"/>
                <a:cs typeface="Helvetica Neue"/>
              </a:defRPr>
            </a:pPr>
            <a:r>
              <a:rPr sz="1275" b="0">
                <a:solidFill>
                  <a:srgbClr val="D7E8E3"/>
                </a:solidFill>
                <a:latin typeface="Helvetica Neue"/>
                <a:ea typeface="Helvetica Neue"/>
                <a:cs typeface="Helvetica Neue"/>
              </a:rPr>
              <a:t>Generated, inspectable, and tied to one evaluation run.</a:t>
            </a:r>
          </a:p>
        </p:txBody>
      </p:sp>
      <p:sp>
        <p:nvSpPr>
          <p:cNvPr id="10" name="">
            <a:extLst xmlns:a="http://schemas.openxmlformats.org/drawingml/2006/main">
              <a:ext uri="{FF2B5EF4-FFF2-40B4-BE49-F238E27FC236}">
                <a16:creationId xmlns:a16="http://schemas.microsoft.com/office/drawing/2014/main" id="{3581DBDF-F5E3-4747-B79C-D8CB27ADD810}"/>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MSc dissertation research prototype</a:t>
            </a:r>
          </a:p>
        </p:txBody>
      </p:sp>
    </p:spTree>
    <p:extLst>
      <p:ext uri="{BB962C8B-B14F-4D97-AF65-F5344CB8AC3E}">
        <p14:creationId xmlns:p14="http://schemas.microsoft.com/office/powerpoint/2010/main" val="867910091"/>
      </p:ext>
    </p:extLst>
  </p:cSld>
</p:sld>
</file>

<file path=ppt/slides/slide8.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731D98-CEA8-435C-8967-B533846D03C4}"/>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INTERNAL BENCHMARK</a:t>
            </a:r>
          </a:p>
        </p:txBody>
      </p:sp>
      <p:sp>
        <p:nvSpPr>
          <p:cNvPr id="2" name="">
            <a:extLst xmlns:a="http://schemas.openxmlformats.org/drawingml/2006/main">
              <a:ext uri="{FF2B5EF4-FFF2-40B4-BE49-F238E27FC236}">
                <a16:creationId xmlns:a16="http://schemas.microsoft.com/office/drawing/2014/main" id="{73B7A7BB-AD2E-42F1-9A0B-65BDD199B2D1}"/>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Architecture comparison on the audited test split</a:t>
            </a:r>
          </a:p>
        </p:txBody>
      </p:sp>
      <p:sp>
        <p:nvSpPr>
          <p:cNvPr id="3" name="">
            <a:extLst xmlns:a="http://schemas.openxmlformats.org/drawingml/2006/main">
              <a:ext uri="{FF2B5EF4-FFF2-40B4-BE49-F238E27FC236}">
                <a16:creationId xmlns:a16="http://schemas.microsoft.com/office/drawing/2014/main" id="{95507E77-9C2A-48D3-88FA-628B8CBC3BEF}"/>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CB41E08-FC17-4A57-BDD5-5201405001C2}"/>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graphicFrame>
        <p:nvGraphicFramePr>
          <p:cNvPr id="15" name="Chart"/>
          <p:cNvGraphicFramePr/>
          <p:nvPr/>
        </p:nvGraphicFramePr>
        <p:xfrm>
          <a:off xmlns:a="http://schemas.openxmlformats.org/drawingml/2006/main" x="495300" y="1771650"/>
          <a:ext xmlns:a="http://schemas.openxmlformats.org/drawingml/2006/main" cx="6343650" cy="3695700"/>
        </p:xfrm>
        <a:graphic xmlns:a="http://schemas.openxmlformats.org/drawingml/2006/main">
          <a:graphicData uri="http://schemas.openxmlformats.org/drawingml/2006/chart">
            <c:chart xmlns:r="http://schemas.openxmlformats.org/officeDocument/2006/relationships" xmlns:c="http://schemas.openxmlformats.org/drawingml/2006/chart" r:id="R2d433e9433c2497a"/>
          </a:graphicData>
        </a:graphic>
      </p:graphicFrame>
      <p:graphicFrame>
        <p:nvGraphicFramePr>
          <p:cNvPr id="16" name=""/>
          <p:cNvGraphicFramePr/>
          <p:nvPr/>
        </p:nvGraphicFramePr>
        <p:xfrm>
          <a:off xmlns:a="http://schemas.openxmlformats.org/drawingml/2006/main" x="7162800" y="2000250"/>
          <a:ext xmlns:a="http://schemas.openxmlformats.org/drawingml/2006/main" cx="4419600" cy="2438400"/>
        </p:xfrm>
        <a:graphic xmlns:a="http://schemas.openxmlformats.org/drawingml/2006/main">
          <a:graphicData uri="http://schemas.openxmlformats.org/drawingml/2006/table">
            <a:tbl>
              <a:tblPr/>
              <a:tblGrid>
                <a:gridCol w="1485900"/>
                <a:gridCol w="1466850"/>
                <a:gridCol w="1466850"/>
              </a:tblGrid>
              <a:tr h="609600">
                <a:tc>
                  <a:txBody>
                    <a:bodyPr/>
                    <a:lstStyle/>
                    <a:p>
                      <a:r>
                        <a:rPr sz="1125" b="1">
                          <a:solidFill>
                            <a:srgbClr val="FFFFFF"/>
                          </a:solidFill>
                          <a:latin typeface="Helvetica Neue"/>
                          <a:ea typeface="Helvetica Neue"/>
                          <a:cs typeface="Helvetica Neue"/>
                        </a:rPr>
                        <a:t>Model</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Accuracy 95% CI</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ROC-AUC 95% CI</a:t>
                      </a:r>
                    </a:p>
                  </a:txBody>
                  <a:tcPr marL="91440" marR="91440" marT="45720" marB="45720">
                    <a:solidFill>
                      <a:srgbClr val="082F35"/>
                    </a:solidFill>
                  </a:tcPr>
                </a:tc>
              </a:tr>
              <a:tr h="609600">
                <a:tc>
                  <a:txBody>
                    <a:bodyPr/>
                    <a:lstStyle/>
                    <a:p>
                      <a:r>
                        <a:rPr sz="1050" b="0">
                          <a:solidFill>
                            <a:srgbClr val="153438"/>
                          </a:solidFill>
                          <a:latin typeface="Helvetica Neue"/>
                          <a:ea typeface="Helvetica Neue"/>
                          <a:cs typeface="Helvetica Neue"/>
                        </a:rPr>
                        <a:t>EfficientNet-B0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0.5645 to 0.7903</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0.6217 to 0.8616</a:t>
                      </a:r>
                    </a:p>
                  </a:txBody>
                  <a:tcPr marL="91440" marR="91440" marT="45720" marB="45720">
                    <a:solidFill>
                      <a:srgbClr val="FFFCF6"/>
                    </a:solidFill>
                  </a:tcPr>
                </a:tc>
              </a:tr>
              <a:tr h="609600">
                <a:tc>
                  <a:txBody>
                    <a:bodyPr/>
                    <a:lstStyle/>
                    <a:p>
                      <a:r>
                        <a:rPr sz="1050" b="0">
                          <a:solidFill>
                            <a:srgbClr val="153438"/>
                          </a:solidFill>
                          <a:latin typeface="Helvetica Neue"/>
                          <a:ea typeface="Helvetica Neue"/>
                          <a:cs typeface="Helvetica Neue"/>
                        </a:rPr>
                        <a:t>Custom CNN</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0.5323 to 0.7581</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0.5330 to 0.7979</a:t>
                      </a:r>
                    </a:p>
                  </a:txBody>
                  <a:tcPr marL="91440" marR="91440" marT="45720" marB="45720">
                    <a:solidFill>
                      <a:srgbClr val="FFFCF6"/>
                    </a:solidFill>
                  </a:tcPr>
                </a:tc>
              </a:tr>
              <a:tr h="609600">
                <a:tc>
                  <a:txBody>
                    <a:bodyPr/>
                    <a:lstStyle/>
                    <a:p>
                      <a:r>
                        <a:rPr sz="1050" b="0">
                          <a:solidFill>
                            <a:srgbClr val="153438"/>
                          </a:solidFill>
                          <a:latin typeface="Helvetica Neue"/>
                          <a:ea typeface="Helvetica Neue"/>
                          <a:cs typeface="Helvetica Neue"/>
                        </a:rPr>
                        <a:t>ResNet-50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0.4355 to 0.6935</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0.5054 to 0.7701</a:t>
                      </a:r>
                    </a:p>
                  </a:txBody>
                  <a:tcPr marL="91440" marR="91440" marT="45720" marB="45720">
                    <a:solidFill>
                      <a:srgbClr val="FFFCF6"/>
                    </a:solidFill>
                  </a:tcPr>
                </a:tc>
              </a:tr>
            </a:tbl>
          </a:graphicData>
        </a:graphic>
      </p:graphicFrame>
      <p:sp>
        <p:nvSpPr>
          <p:cNvPr id="7" name="">
            <a:extLst xmlns:a="http://schemas.openxmlformats.org/drawingml/2006/main">
              <a:ext uri="{FF2B5EF4-FFF2-40B4-BE49-F238E27FC236}">
                <a16:creationId xmlns:a16="http://schemas.microsoft.com/office/drawing/2014/main" id="{58D66D45-0F33-4E36-A271-47329F2603F7}"/>
              </a:ext>
            </a:extLst>
          </p:cNvPr>
          <p:cNvSpPr>
            <a:spLocks xmlns:a="http://schemas.openxmlformats.org/drawingml/2006/main" noGrp="1"/>
          </p:cNvSpPr>
          <p:nvPr/>
        </p:nvSpPr>
        <p:spPr>
          <a:xfrm xmlns:a="http://schemas.openxmlformats.org/drawingml/2006/main">
            <a:off x="7162800" y="4705350"/>
            <a:ext cx="4419600" cy="1009650"/>
          </a:xfrm>
          <a:prstGeom xmlns:a="http://schemas.openxmlformats.org/drawingml/2006/main" prst="roundRect">
            <a:avLst>
              <a:gd name="adj" fmla="val 16981"/>
            </a:avLst>
          </a:prstGeom>
          <a:solidFill xmlns:a="http://schemas.openxmlformats.org/drawingml/2006/main">
            <a:srgbClr val="F5E8C8"/>
          </a:solidFill>
          <a:ln xmlns:a="http://schemas.openxmlformats.org/drawingml/2006/main" w="9525">
            <a:solidFill>
              <a:srgbClr val="D6B56F"/>
            </a:solidFill>
            <a:prstDash val="solid"/>
          </a:ln>
        </p:spPr>
      </p:sp>
      <p:sp>
        <p:nvSpPr>
          <p:cNvPr id="8" name="">
            <a:extLst xmlns:a="http://schemas.openxmlformats.org/drawingml/2006/main">
              <a:ext uri="{FF2B5EF4-FFF2-40B4-BE49-F238E27FC236}">
                <a16:creationId xmlns:a16="http://schemas.microsoft.com/office/drawing/2014/main" id="{4B8DA0BD-3116-4F7F-AAB1-0E7B34317E6A}"/>
              </a:ext>
            </a:extLst>
          </p:cNvPr>
          <p:cNvSpPr>
            <a:spLocks xmlns:a="http://schemas.openxmlformats.org/drawingml/2006/main" noGrp="1"/>
          </p:cNvSpPr>
          <p:nvPr/>
        </p:nvSpPr>
        <p:spPr>
          <a:xfrm xmlns:a="http://schemas.openxmlformats.org/drawingml/2006/main">
            <a:off x="7429500" y="4914900"/>
            <a:ext cx="388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6E4C08"/>
                </a:solidFill>
                <a:latin typeface="Helvetica Neue"/>
                <a:ea typeface="Helvetica Neue"/>
                <a:cs typeface="Helvetica Neue"/>
              </a:defRPr>
            </a:pPr>
            <a:r>
              <a:rPr sz="1575" b="1">
                <a:solidFill>
                  <a:srgbClr val="6E4C08"/>
                </a:solidFill>
                <a:latin typeface="Helvetica Neue"/>
                <a:ea typeface="Helvetica Neue"/>
                <a:cs typeface="Helvetica Neue"/>
              </a:rPr>
              <a:t>Intervals overlap</a:t>
            </a:r>
          </a:p>
        </p:txBody>
      </p:sp>
      <p:sp>
        <p:nvSpPr>
          <p:cNvPr id="9" name="">
            <a:extLst xmlns:a="http://schemas.openxmlformats.org/drawingml/2006/main">
              <a:ext uri="{FF2B5EF4-FFF2-40B4-BE49-F238E27FC236}">
                <a16:creationId xmlns:a16="http://schemas.microsoft.com/office/drawing/2014/main" id="{053BFD61-39E0-4B95-AACE-173FC33DC91F}"/>
              </a:ext>
            </a:extLst>
          </p:cNvPr>
          <p:cNvSpPr>
            <a:spLocks xmlns:a="http://schemas.openxmlformats.org/drawingml/2006/main" noGrp="1"/>
          </p:cNvSpPr>
          <p:nvPr/>
        </p:nvSpPr>
        <p:spPr>
          <a:xfrm xmlns:a="http://schemas.openxmlformats.org/drawingml/2006/main">
            <a:off x="7429500" y="5238750"/>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4920"/>
                </a:solidFill>
                <a:latin typeface="Helvetica Neue"/>
                <a:ea typeface="Helvetica Neue"/>
                <a:cs typeface="Helvetica Neue"/>
              </a:defRPr>
            </a:pPr>
            <a:r>
              <a:rPr sz="1200" b="0">
                <a:solidFill>
                  <a:srgbClr val="5D4920"/>
                </a:solidFill>
                <a:latin typeface="Helvetica Neue"/>
                <a:ea typeface="Helvetica Neue"/>
                <a:cs typeface="Helvetica Neue"/>
              </a:rPr>
              <a:t>The ranking is descriptive. The data do not support a superiority or breakthrough claim.</a:t>
            </a:r>
          </a:p>
        </p:txBody>
      </p:sp>
      <p:sp>
        <p:nvSpPr>
          <p:cNvPr id="10" name="">
            <a:extLst xmlns:a="http://schemas.openxmlformats.org/drawingml/2006/main">
              <a:ext uri="{FF2B5EF4-FFF2-40B4-BE49-F238E27FC236}">
                <a16:creationId xmlns:a16="http://schemas.microsoft.com/office/drawing/2014/main" id="{7DC5564A-6086-4195-95B6-7C58344E14A1}"/>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outputs/model_benchmark.json, one training seed and 62 test images</a:t>
            </a:r>
          </a:p>
        </p:txBody>
      </p:sp>
    </p:spTree>
    <p:extLst>
      <p:ext uri="{BB962C8B-B14F-4D97-AF65-F5344CB8AC3E}">
        <p14:creationId xmlns:p14="http://schemas.microsoft.com/office/powerpoint/2010/main" val="1191576238"/>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590C70-C787-45AB-BFCF-F5BDC958CCD1}"/>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EXTENDED EVALUATION</a:t>
            </a:r>
          </a:p>
        </p:txBody>
      </p:sp>
      <p:sp>
        <p:nvSpPr>
          <p:cNvPr id="2" name="">
            <a:extLst xmlns:a="http://schemas.openxmlformats.org/drawingml/2006/main">
              <a:ext uri="{FF2B5EF4-FFF2-40B4-BE49-F238E27FC236}">
                <a16:creationId xmlns:a16="http://schemas.microsoft.com/office/drawing/2014/main" id="{5A0BE945-DC6C-43B6-B525-F4C09F39DFE5}"/>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Discrimination and calibration metrics</a:t>
            </a:r>
          </a:p>
        </p:txBody>
      </p:sp>
      <p:sp>
        <p:nvSpPr>
          <p:cNvPr id="3" name="">
            <a:extLst xmlns:a="http://schemas.openxmlformats.org/drawingml/2006/main">
              <a:ext uri="{FF2B5EF4-FFF2-40B4-BE49-F238E27FC236}">
                <a16:creationId xmlns:a16="http://schemas.microsoft.com/office/drawing/2014/main" id="{04832C4C-2892-409F-BF38-53FA5A9E4C2E}"/>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63C5FAA-6B1D-4FFE-9C2B-C113530A2E5B}"/>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d689ef2ef584255"/>
          <a:stretch xmlns:a="http://schemas.openxmlformats.org/drawingml/2006/main"/>
        </p:blipFill>
        <p:spPr>
          <a:xfrm xmlns:a="http://schemas.openxmlformats.org/drawingml/2006/main">
            <a:off x="609600" y="2100339"/>
            <a:ext cx="7810500" cy="3228821"/>
          </a:xfrm>
          <a:prstGeom xmlns:a="http://schemas.openxmlformats.org/drawingml/2006/main" prst="roundRect">
            <a:avLst>
              <a:gd name="adj" fmla="val 2830"/>
            </a:avLst>
          </a:prstGeom>
        </p:spPr>
      </p:pic>
      <p:sp>
        <p:nvSpPr>
          <p:cNvPr id="6" name="">
            <a:extLst xmlns:a="http://schemas.openxmlformats.org/drawingml/2006/main">
              <a:ext uri="{FF2B5EF4-FFF2-40B4-BE49-F238E27FC236}">
                <a16:creationId xmlns:a16="http://schemas.microsoft.com/office/drawing/2014/main" id="{30932E0C-FF37-4421-AB3C-4428CEE1658A}"/>
              </a:ext>
            </a:extLst>
          </p:cNvPr>
          <p:cNvSpPr>
            <a:spLocks xmlns:a="http://schemas.openxmlformats.org/drawingml/2006/main" noGrp="1"/>
          </p:cNvSpPr>
          <p:nvPr/>
        </p:nvSpPr>
        <p:spPr>
          <a:xfrm xmlns:a="http://schemas.openxmlformats.org/drawingml/2006/main">
            <a:off x="8858250" y="1866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0C746D"/>
                </a:solidFill>
                <a:latin typeface="Helvetica Neue"/>
                <a:ea typeface="Helvetica Neue"/>
                <a:cs typeface="Helvetica Neue"/>
              </a:defRPr>
            </a:pPr>
            <a:r>
              <a:rPr sz="1050" b="1">
                <a:solidFill>
                  <a:srgbClr val="0C746D"/>
                </a:solidFill>
                <a:latin typeface="Helvetica Neue"/>
                <a:ea typeface="Helvetica Neue"/>
                <a:cs typeface="Helvetica Neue"/>
              </a:rPr>
              <a:t>AVERAGE PRECISION</a:t>
            </a:r>
          </a:p>
        </p:txBody>
      </p:sp>
      <p:sp>
        <p:nvSpPr>
          <p:cNvPr id="7" name="">
            <a:extLst xmlns:a="http://schemas.openxmlformats.org/drawingml/2006/main">
              <a:ext uri="{FF2B5EF4-FFF2-40B4-BE49-F238E27FC236}">
                <a16:creationId xmlns:a16="http://schemas.microsoft.com/office/drawing/2014/main" id="{599A66B8-0C13-4D87-A95C-F1CF5E65C0CC}"/>
              </a:ext>
            </a:extLst>
          </p:cNvPr>
          <p:cNvSpPr>
            <a:spLocks xmlns:a="http://schemas.openxmlformats.org/drawingml/2006/main" noGrp="1"/>
          </p:cNvSpPr>
          <p:nvPr/>
        </p:nvSpPr>
        <p:spPr>
          <a:xfrm xmlns:a="http://schemas.openxmlformats.org/drawingml/2006/main">
            <a:off x="8801100" y="21717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82F35"/>
                </a:solidFill>
                <a:latin typeface="Helvetica Neue"/>
                <a:ea typeface="Helvetica Neue"/>
                <a:cs typeface="Helvetica Neue"/>
              </a:defRPr>
            </a:pPr>
            <a:r>
              <a:rPr sz="3150" b="1">
                <a:solidFill>
                  <a:srgbClr val="082F35"/>
                </a:solidFill>
                <a:latin typeface="Helvetica Neue"/>
                <a:ea typeface="Helvetica Neue"/>
                <a:cs typeface="Helvetica Neue"/>
              </a:rPr>
              <a:t>0.6803</a:t>
            </a:r>
          </a:p>
        </p:txBody>
      </p:sp>
      <p:sp>
        <p:nvSpPr>
          <p:cNvPr id="8" name="">
            <a:extLst xmlns:a="http://schemas.openxmlformats.org/drawingml/2006/main">
              <a:ext uri="{FF2B5EF4-FFF2-40B4-BE49-F238E27FC236}">
                <a16:creationId xmlns:a16="http://schemas.microsoft.com/office/drawing/2014/main" id="{BD4E93F0-5587-421A-90ED-758EA071F906}"/>
              </a:ext>
            </a:extLst>
          </p:cNvPr>
          <p:cNvSpPr>
            <a:spLocks xmlns:a="http://schemas.openxmlformats.org/drawingml/2006/main" noGrp="1"/>
          </p:cNvSpPr>
          <p:nvPr/>
        </p:nvSpPr>
        <p:spPr>
          <a:xfrm xmlns:a="http://schemas.openxmlformats.org/drawingml/2006/main">
            <a:off x="8858250" y="3086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0C746D"/>
                </a:solidFill>
                <a:latin typeface="Helvetica Neue"/>
                <a:ea typeface="Helvetica Neue"/>
                <a:cs typeface="Helvetica Neue"/>
              </a:defRPr>
            </a:pPr>
            <a:r>
              <a:rPr sz="1050" b="1">
                <a:solidFill>
                  <a:srgbClr val="0C746D"/>
                </a:solidFill>
                <a:latin typeface="Helvetica Neue"/>
                <a:ea typeface="Helvetica Neue"/>
                <a:cs typeface="Helvetica Neue"/>
              </a:rPr>
              <a:t>BRIER SCORE</a:t>
            </a:r>
          </a:p>
        </p:txBody>
      </p:sp>
      <p:sp>
        <p:nvSpPr>
          <p:cNvPr id="9" name="">
            <a:extLst xmlns:a="http://schemas.openxmlformats.org/drawingml/2006/main">
              <a:ext uri="{FF2B5EF4-FFF2-40B4-BE49-F238E27FC236}">
                <a16:creationId xmlns:a16="http://schemas.microsoft.com/office/drawing/2014/main" id="{9AE7E6E5-4934-4860-93EC-769000D8217C}"/>
              </a:ext>
            </a:extLst>
          </p:cNvPr>
          <p:cNvSpPr>
            <a:spLocks xmlns:a="http://schemas.openxmlformats.org/drawingml/2006/main" noGrp="1"/>
          </p:cNvSpPr>
          <p:nvPr/>
        </p:nvSpPr>
        <p:spPr>
          <a:xfrm xmlns:a="http://schemas.openxmlformats.org/drawingml/2006/main">
            <a:off x="8801100" y="33909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82F35"/>
                </a:solidFill>
                <a:latin typeface="Helvetica Neue"/>
                <a:ea typeface="Helvetica Neue"/>
                <a:cs typeface="Helvetica Neue"/>
              </a:defRPr>
            </a:pPr>
            <a:r>
              <a:rPr sz="3150" b="1">
                <a:solidFill>
                  <a:srgbClr val="082F35"/>
                </a:solidFill>
                <a:latin typeface="Helvetica Neue"/>
                <a:ea typeface="Helvetica Neue"/>
                <a:cs typeface="Helvetica Neue"/>
              </a:rPr>
              <a:t>0.2144</a:t>
            </a:r>
          </a:p>
        </p:txBody>
      </p:sp>
      <p:sp>
        <p:nvSpPr>
          <p:cNvPr id="10" name="">
            <a:extLst xmlns:a="http://schemas.openxmlformats.org/drawingml/2006/main">
              <a:ext uri="{FF2B5EF4-FFF2-40B4-BE49-F238E27FC236}">
                <a16:creationId xmlns:a16="http://schemas.microsoft.com/office/drawing/2014/main" id="{F8EF6C1D-C954-4B96-B0D4-51C731CDE62D}"/>
              </a:ext>
            </a:extLst>
          </p:cNvPr>
          <p:cNvSpPr>
            <a:spLocks xmlns:a="http://schemas.openxmlformats.org/drawingml/2006/main" noGrp="1"/>
          </p:cNvSpPr>
          <p:nvPr/>
        </p:nvSpPr>
        <p:spPr>
          <a:xfrm xmlns:a="http://schemas.openxmlformats.org/drawingml/2006/main">
            <a:off x="8858250" y="43053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0C746D"/>
                </a:solidFill>
                <a:latin typeface="Helvetica Neue"/>
                <a:ea typeface="Helvetica Neue"/>
                <a:cs typeface="Helvetica Neue"/>
              </a:defRPr>
            </a:pPr>
            <a:r>
              <a:rPr sz="1050" b="1">
                <a:solidFill>
                  <a:srgbClr val="0C746D"/>
                </a:solidFill>
                <a:latin typeface="Helvetica Neue"/>
                <a:ea typeface="Helvetica Neue"/>
                <a:cs typeface="Helvetica Neue"/>
              </a:rPr>
              <a:t>EXPECTED CALIBRATION ERROR</a:t>
            </a:r>
          </a:p>
        </p:txBody>
      </p:sp>
      <p:sp>
        <p:nvSpPr>
          <p:cNvPr id="11" name="">
            <a:extLst xmlns:a="http://schemas.openxmlformats.org/drawingml/2006/main">
              <a:ext uri="{FF2B5EF4-FFF2-40B4-BE49-F238E27FC236}">
                <a16:creationId xmlns:a16="http://schemas.microsoft.com/office/drawing/2014/main" id="{7BD44540-E19F-4F4A-AE74-1853A5B6F9E2}"/>
              </a:ext>
            </a:extLst>
          </p:cNvPr>
          <p:cNvSpPr>
            <a:spLocks xmlns:a="http://schemas.openxmlformats.org/drawingml/2006/main" noGrp="1"/>
          </p:cNvSpPr>
          <p:nvPr/>
        </p:nvSpPr>
        <p:spPr>
          <a:xfrm xmlns:a="http://schemas.openxmlformats.org/drawingml/2006/main">
            <a:off x="8801100" y="46101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82F35"/>
                </a:solidFill>
                <a:latin typeface="Helvetica Neue"/>
                <a:ea typeface="Helvetica Neue"/>
                <a:cs typeface="Helvetica Neue"/>
              </a:defRPr>
            </a:pPr>
            <a:r>
              <a:rPr sz="3150" b="1">
                <a:solidFill>
                  <a:srgbClr val="082F35"/>
                </a:solidFill>
                <a:latin typeface="Helvetica Neue"/>
                <a:ea typeface="Helvetica Neue"/>
                <a:cs typeface="Helvetica Neue"/>
              </a:rPr>
              <a:t>0.0652</a:t>
            </a:r>
          </a:p>
        </p:txBody>
      </p:sp>
      <p:sp>
        <p:nvSpPr>
          <p:cNvPr id="12" name="">
            <a:extLst xmlns:a="http://schemas.openxmlformats.org/drawingml/2006/main">
              <a:ext uri="{FF2B5EF4-FFF2-40B4-BE49-F238E27FC236}">
                <a16:creationId xmlns:a16="http://schemas.microsoft.com/office/drawing/2014/main" id="{695B6B78-9A64-42BD-8C68-8C5FEA9F8D58}"/>
              </a:ext>
            </a:extLst>
          </p:cNvPr>
          <p:cNvSpPr>
            <a:spLocks xmlns:a="http://schemas.openxmlformats.org/drawingml/2006/main" noGrp="1"/>
          </p:cNvSpPr>
          <p:nvPr/>
        </p:nvSpPr>
        <p:spPr>
          <a:xfrm xmlns:a="http://schemas.openxmlformats.org/drawingml/2006/main">
            <a:off x="8858250" y="531495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5B706F"/>
                </a:solidFill>
                <a:latin typeface="Helvetica Neue"/>
                <a:ea typeface="Helvetica Neue"/>
                <a:cs typeface="Helvetica Neue"/>
              </a:defRPr>
            </a:pPr>
            <a:r>
              <a:rPr sz="1125" b="0">
                <a:solidFill>
                  <a:srgbClr val="5B706F"/>
                </a:solidFill>
                <a:latin typeface="Helvetica Neue"/>
                <a:ea typeface="Helvetica Neue"/>
                <a:cs typeface="Helvetica Neue"/>
              </a:rPr>
              <a:t>Five bins, descriptive test-set diagnostics</a:t>
            </a:r>
          </a:p>
        </p:txBody>
      </p:sp>
      <p:sp>
        <p:nvSpPr>
          <p:cNvPr id="13" name="">
            <a:extLst xmlns:a="http://schemas.openxmlformats.org/drawingml/2006/main">
              <a:ext uri="{FF2B5EF4-FFF2-40B4-BE49-F238E27FC236}">
                <a16:creationId xmlns:a16="http://schemas.microsoft.com/office/drawing/2014/main" id="{03AD1659-62D8-4A1A-8B02-B2DA9295FAA8}"/>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Source: outputs/extended_evaluation.json and outputs/predictions.csv</a:t>
            </a:r>
          </a:p>
        </p:txBody>
      </p:sp>
    </p:spTree>
    <p:extLst>
      <p:ext uri="{BB962C8B-B14F-4D97-AF65-F5344CB8AC3E}">
        <p14:creationId xmlns:p14="http://schemas.microsoft.com/office/powerpoint/2010/main" val="485048272"/>
      </p:ext>
    </p:extLst>
  </p:cSld>
</p:sld>
</file>

<file path=ppt/slides/slide10.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82E03C-AA29-42FD-B0D9-FF8DDDA0B567}"/>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ERROR ANALYSIS</a:t>
            </a:r>
          </a:p>
        </p:txBody>
      </p:sp>
      <p:sp>
        <p:nvSpPr>
          <p:cNvPr id="2" name="">
            <a:extLst xmlns:a="http://schemas.openxmlformats.org/drawingml/2006/main">
              <a:ext uri="{FF2B5EF4-FFF2-40B4-BE49-F238E27FC236}">
                <a16:creationId xmlns:a16="http://schemas.microsoft.com/office/drawing/2014/main" id="{589ED71E-1D7B-461E-8E14-E412CE3C8691}"/>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Errors differ between BrEaST and OASBUD</a:t>
            </a:r>
          </a:p>
        </p:txBody>
      </p:sp>
      <p:sp>
        <p:nvSpPr>
          <p:cNvPr id="3" name="">
            <a:extLst xmlns:a="http://schemas.openxmlformats.org/drawingml/2006/main">
              <a:ext uri="{FF2B5EF4-FFF2-40B4-BE49-F238E27FC236}">
                <a16:creationId xmlns:a16="http://schemas.microsoft.com/office/drawing/2014/main" id="{53290AA2-1D6F-450B-965D-6D3588E67697}"/>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83752312-021A-48E0-9B1B-F9254FB18DB6}"/>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44c5f68da394a82"/>
          <a:stretch xmlns:a="http://schemas.openxmlformats.org/drawingml/2006/main"/>
        </p:blipFill>
        <p:spPr>
          <a:xfrm xmlns:a="http://schemas.openxmlformats.org/drawingml/2006/main">
            <a:off x="609600" y="1696347"/>
            <a:ext cx="7067550" cy="3846305"/>
          </a:xfrm>
          <a:prstGeom xmlns:a="http://schemas.openxmlformats.org/drawingml/2006/main" prst="roundRect">
            <a:avLst>
              <a:gd name="adj" fmla="val 2970"/>
            </a:avLst>
          </a:prstGeom>
        </p:spPr>
      </p:pic>
      <p:graphicFrame>
        <p:nvGraphicFramePr>
          <p:cNvPr id="16" name=""/>
          <p:cNvGraphicFramePr/>
          <p:nvPr/>
        </p:nvGraphicFramePr>
        <p:xfrm>
          <a:off xmlns:a="http://schemas.openxmlformats.org/drawingml/2006/main" x="7981950" y="2000250"/>
          <a:ext xmlns:a="http://schemas.openxmlformats.org/drawingml/2006/main" cx="3600450" cy="1866900"/>
        </p:xfrm>
        <a:graphic xmlns:a="http://schemas.openxmlformats.org/drawingml/2006/main">
          <a:graphicData uri="http://schemas.openxmlformats.org/drawingml/2006/table">
            <a:tbl>
              <a:tblPr/>
              <a:tblGrid>
                <a:gridCol w="1066800"/>
                <a:gridCol w="457200"/>
                <a:gridCol w="895350"/>
                <a:gridCol w="590550"/>
                <a:gridCol w="590550"/>
              </a:tblGrid>
              <a:tr h="622300">
                <a:tc>
                  <a:txBody>
                    <a:bodyPr/>
                    <a:lstStyle/>
                    <a:p>
                      <a:r>
                        <a:rPr sz="1125" b="1">
                          <a:solidFill>
                            <a:srgbClr val="FFFFFF"/>
                          </a:solidFill>
                          <a:latin typeface="Helvetica Neue"/>
                          <a:ea typeface="Helvetica Neue"/>
                          <a:cs typeface="Helvetica Neue"/>
                        </a:rPr>
                        <a:t>Source</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n</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Accuracy</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FP</a:t>
                      </a:r>
                    </a:p>
                  </a:txBody>
                  <a:tcPr marL="91440" marR="91440" marT="45720" marB="45720">
                    <a:solidFill>
                      <a:srgbClr val="082F35"/>
                    </a:solidFill>
                  </a:tcPr>
                </a:tc>
                <a:tc>
                  <a:txBody>
                    <a:bodyPr/>
                    <a:lstStyle/>
                    <a:p>
                      <a:r>
                        <a:rPr sz="1125" b="1">
                          <a:solidFill>
                            <a:srgbClr val="FFFFFF"/>
                          </a:solidFill>
                          <a:latin typeface="Helvetica Neue"/>
                          <a:ea typeface="Helvetica Neue"/>
                          <a:cs typeface="Helvetica Neue"/>
                        </a:rPr>
                        <a:t>FN</a:t>
                      </a:r>
                    </a:p>
                  </a:txBody>
                  <a:tcPr marL="91440" marR="91440" marT="45720" marB="45720">
                    <a:solidFill>
                      <a:srgbClr val="082F35"/>
                    </a:solidFill>
                  </a:tcPr>
                </a:tc>
              </a:tr>
              <a:tr h="622300">
                <a:tc>
                  <a:txBody>
                    <a:bodyPr/>
                    <a:lstStyle/>
                    <a:p>
                      <a:r>
                        <a:rPr sz="1050" b="0">
                          <a:solidFill>
                            <a:srgbClr val="153438"/>
                          </a:solidFill>
                          <a:latin typeface="Helvetica Neue"/>
                          <a:ea typeface="Helvetica Neue"/>
                          <a:cs typeface="Helvetica Neue"/>
                        </a:rPr>
                        <a:t>BrEaST</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32</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0.7813</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2</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5</a:t>
                      </a:r>
                    </a:p>
                  </a:txBody>
                  <a:tcPr marL="91440" marR="91440" marT="45720" marB="45720">
                    <a:solidFill>
                      <a:srgbClr val="FFFCF6"/>
                    </a:solidFill>
                  </a:tcPr>
                </a:tc>
              </a:tr>
              <a:tr h="622300">
                <a:tc>
                  <a:txBody>
                    <a:bodyPr/>
                    <a:lstStyle/>
                    <a:p>
                      <a:r>
                        <a:rPr sz="1050" b="0">
                          <a:solidFill>
                            <a:srgbClr val="153438"/>
                          </a:solidFill>
                          <a:latin typeface="Helvetica Neue"/>
                          <a:ea typeface="Helvetica Neue"/>
                          <a:cs typeface="Helvetica Neue"/>
                        </a:rPr>
                        <a:t>OASBUD</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30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0.5667</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10</a:t>
                      </a:r>
                    </a:p>
                  </a:txBody>
                  <a:tcPr marL="91440" marR="91440" marT="45720" marB="45720">
                    <a:solidFill>
                      <a:srgbClr val="FFFCF6"/>
                    </a:solidFill>
                  </a:tcPr>
                </a:tc>
                <a:tc>
                  <a:txBody>
                    <a:bodyPr/>
                    <a:lstStyle/>
                    <a:p>
                      <a:r>
                        <a:rPr sz="1050" b="0">
                          <a:solidFill>
                            <a:srgbClr val="153438"/>
                          </a:solidFill>
                          <a:latin typeface="Helvetica Neue"/>
                          <a:ea typeface="Helvetica Neue"/>
                          <a:cs typeface="Helvetica Neue"/>
                        </a:rPr>
                        <a:t>3</a:t>
                      </a:r>
                    </a:p>
                  </a:txBody>
                  <a:tcPr marL="91440" marR="91440" marT="45720" marB="45720">
                    <a:solidFill>
                      <a:srgbClr val="FFFCF6"/>
                    </a:solidFill>
                  </a:tcPr>
                </a:tc>
              </a:tr>
            </a:tbl>
          </a:graphicData>
        </a:graphic>
      </p:graphicFrame>
      <p:sp>
        <p:nvSpPr>
          <p:cNvPr id="7" name="">
            <a:extLst xmlns:a="http://schemas.openxmlformats.org/drawingml/2006/main">
              <a:ext uri="{FF2B5EF4-FFF2-40B4-BE49-F238E27FC236}">
                <a16:creationId xmlns:a16="http://schemas.microsoft.com/office/drawing/2014/main" id="{E9526D2C-7316-4B33-AF62-D7DDB79B090B}"/>
              </a:ext>
            </a:extLst>
          </p:cNvPr>
          <p:cNvSpPr>
            <a:spLocks xmlns:a="http://schemas.openxmlformats.org/drawingml/2006/main" noGrp="1"/>
          </p:cNvSpPr>
          <p:nvPr/>
        </p:nvSpPr>
        <p:spPr>
          <a:xfrm xmlns:a="http://schemas.openxmlformats.org/drawingml/2006/main">
            <a:off x="7981950" y="4171950"/>
            <a:ext cx="3600450" cy="1352550"/>
          </a:xfrm>
          <a:prstGeom xmlns:a="http://schemas.openxmlformats.org/drawingml/2006/main" prst="roundRect">
            <a:avLst>
              <a:gd name="adj" fmla="val 12676"/>
            </a:avLst>
          </a:prstGeom>
          <a:solidFill xmlns:a="http://schemas.openxmlformats.org/drawingml/2006/main">
            <a:srgbClr val="F3DEDA"/>
          </a:solidFill>
          <a:ln xmlns:a="http://schemas.openxmlformats.org/drawingml/2006/main" w="9525">
            <a:solidFill>
              <a:srgbClr val="D7AAA3"/>
            </a:solidFill>
            <a:prstDash val="solid"/>
          </a:ln>
        </p:spPr>
      </p:sp>
      <p:sp>
        <p:nvSpPr>
          <p:cNvPr id="8" name="">
            <a:extLst xmlns:a="http://schemas.openxmlformats.org/drawingml/2006/main">
              <a:ext uri="{FF2B5EF4-FFF2-40B4-BE49-F238E27FC236}">
                <a16:creationId xmlns:a16="http://schemas.microsoft.com/office/drawing/2014/main" id="{B984D29F-585E-490C-8B21-BD8002890D33}"/>
              </a:ext>
            </a:extLst>
          </p:cNvPr>
          <p:cNvSpPr>
            <a:spLocks xmlns:a="http://schemas.openxmlformats.org/drawingml/2006/main" noGrp="1"/>
          </p:cNvSpPr>
          <p:nvPr/>
        </p:nvSpPr>
        <p:spPr>
          <a:xfrm xmlns:a="http://schemas.openxmlformats.org/drawingml/2006/main">
            <a:off x="8248650" y="4419600"/>
            <a:ext cx="306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9B3F36"/>
                </a:solidFill>
                <a:latin typeface="Helvetica Neue"/>
                <a:ea typeface="Helvetica Neue"/>
                <a:cs typeface="Helvetica Neue"/>
              </a:defRPr>
            </a:pPr>
            <a:r>
              <a:rPr sz="1500" b="1">
                <a:solidFill>
                  <a:srgbClr val="9B3F36"/>
                </a:solidFill>
                <a:latin typeface="Helvetica Neue"/>
                <a:ea typeface="Helvetica Neue"/>
                <a:cs typeface="Helvetica Neue"/>
              </a:rPr>
              <a:t>Interpretation boundary</a:t>
            </a:r>
          </a:p>
        </p:txBody>
      </p:sp>
      <p:sp>
        <p:nvSpPr>
          <p:cNvPr id="9" name="">
            <a:extLst xmlns:a="http://schemas.openxmlformats.org/drawingml/2006/main">
              <a:ext uri="{FF2B5EF4-FFF2-40B4-BE49-F238E27FC236}">
                <a16:creationId xmlns:a16="http://schemas.microsoft.com/office/drawing/2014/main" id="{075EDC1F-29FF-439D-9057-E784320569E3}"/>
              </a:ext>
            </a:extLst>
          </p:cNvPr>
          <p:cNvSpPr>
            <a:spLocks xmlns:a="http://schemas.openxmlformats.org/drawingml/2006/main" noGrp="1"/>
          </p:cNvSpPr>
          <p:nvPr/>
        </p:nvSpPr>
        <p:spPr>
          <a:xfrm xmlns:a="http://schemas.openxmlformats.org/drawingml/2006/main">
            <a:off x="8248650" y="47815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73E39"/>
                </a:solidFill>
                <a:latin typeface="Helvetica Neue"/>
                <a:ea typeface="Helvetica Neue"/>
                <a:cs typeface="Helvetica Neue"/>
              </a:defRPr>
            </a:pPr>
            <a:r>
              <a:rPr sz="1200" b="0">
                <a:solidFill>
                  <a:srgbClr val="673E39"/>
                </a:solidFill>
                <a:latin typeface="Helvetica Neue"/>
                <a:ea typeface="Helvetica Neue"/>
                <a:cs typeface="Helvetica Neue"/>
              </a:rPr>
              <a:t>Source, case mix, acquisition, reconstruction, and sample size are confounded. The plot cannot rank dataset quality.</a:t>
            </a:r>
          </a:p>
        </p:txBody>
      </p:sp>
      <p:sp>
        <p:nvSpPr>
          <p:cNvPr id="10" name="">
            <a:extLst xmlns:a="http://schemas.openxmlformats.org/drawingml/2006/main">
              <a:ext uri="{FF2B5EF4-FFF2-40B4-BE49-F238E27FC236}">
                <a16:creationId xmlns:a16="http://schemas.microsoft.com/office/drawing/2014/main" id="{91F2A7A2-BDA6-4E44-BDB1-462682805917}"/>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Fixed threshold 0.5 with no source-specific threshold tuning</a:t>
            </a:r>
          </a:p>
        </p:txBody>
      </p:sp>
    </p:spTree>
    <p:extLst>
      <p:ext uri="{BB962C8B-B14F-4D97-AF65-F5344CB8AC3E}">
        <p14:creationId xmlns:p14="http://schemas.microsoft.com/office/powerpoint/2010/main" val="1090434869"/>
      </p:ext>
    </p:extLst>
  </p:cSld>
</p:sld>
</file>

<file path=ppt/slides/slide1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A2E33A-B68C-4209-AD05-6452914E95BA}"/>
              </a:ext>
            </a:extLst>
          </p:cNvPr>
          <p:cNvSpPr>
            <a:spLocks xmlns:a="http://schemas.openxmlformats.org/drawingml/2006/main" noGrp="1"/>
          </p:cNvSpPr>
          <p:nvPr/>
        </p:nvSpPr>
        <p:spPr>
          <a:xfrm xmlns:a="http://schemas.openxmlformats.org/drawingml/2006/main">
            <a:off x="609600" y="32385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0C746D"/>
                </a:solidFill>
                <a:latin typeface="Helvetica Neue"/>
                <a:ea typeface="Helvetica Neue"/>
                <a:cs typeface="Helvetica Neue"/>
              </a:defRPr>
            </a:pPr>
            <a:r>
              <a:rPr sz="1125" b="1">
                <a:solidFill>
                  <a:srgbClr val="0C746D"/>
                </a:solidFill>
                <a:latin typeface="Helvetica Neue"/>
                <a:ea typeface="Helvetica Neue"/>
                <a:cs typeface="Helvetica Neue"/>
              </a:rPr>
              <a:t>RESEARCH DASHBOARD</a:t>
            </a:r>
          </a:p>
        </p:txBody>
      </p:sp>
      <p:sp>
        <p:nvSpPr>
          <p:cNvPr id="2" name="">
            <a:extLst xmlns:a="http://schemas.openxmlformats.org/drawingml/2006/main">
              <a:ext uri="{FF2B5EF4-FFF2-40B4-BE49-F238E27FC236}">
                <a16:creationId xmlns:a16="http://schemas.microsoft.com/office/drawing/2014/main" id="{8D2A836F-5A84-446B-AF35-9A0917BC839D}"/>
              </a:ext>
            </a:extLst>
          </p:cNvPr>
          <p:cNvSpPr>
            <a:spLocks xmlns:a="http://schemas.openxmlformats.org/drawingml/2006/main" noGrp="1"/>
          </p:cNvSpPr>
          <p:nvPr/>
        </p:nvSpPr>
        <p:spPr>
          <a:xfrm xmlns:a="http://schemas.openxmlformats.org/drawingml/2006/main">
            <a:off x="609600" y="647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082F35"/>
                </a:solidFill>
                <a:latin typeface="Helvetica Neue"/>
                <a:ea typeface="Helvetica Neue"/>
                <a:cs typeface="Helvetica Neue"/>
              </a:defRPr>
            </a:pPr>
            <a:r>
              <a:rPr sz="2925" b="1">
                <a:solidFill>
                  <a:srgbClr val="082F35"/>
                </a:solidFill>
                <a:latin typeface="Helvetica Neue"/>
                <a:ea typeface="Helvetica Neue"/>
                <a:cs typeface="Helvetica Neue"/>
              </a:rPr>
              <a:t>Six pages document the complete workflow</a:t>
            </a:r>
          </a:p>
        </p:txBody>
      </p:sp>
      <p:sp>
        <p:nvSpPr>
          <p:cNvPr id="3" name="">
            <a:extLst xmlns:a="http://schemas.openxmlformats.org/drawingml/2006/main">
              <a:ext uri="{FF2B5EF4-FFF2-40B4-BE49-F238E27FC236}">
                <a16:creationId xmlns:a16="http://schemas.microsoft.com/office/drawing/2014/main" id="{6B6A07F3-6DE4-4FF4-954B-F3006ECC3DD0}"/>
              </a:ext>
            </a:extLst>
          </p:cNvPr>
          <p:cNvSpPr>
            <a:spLocks xmlns:a="http://schemas.openxmlformats.org/drawingml/2006/main" noGrp="1"/>
          </p:cNvSpPr>
          <p:nvPr/>
        </p:nvSpPr>
        <p:spPr>
          <a:xfrm xmlns:a="http://schemas.openxmlformats.org/drawingml/2006/main">
            <a:off x="11144250" y="400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1">
                <a:solidFill>
                  <a:srgbClr val="5B706F"/>
                </a:solidFill>
                <a:latin typeface="Helvetica Neue"/>
                <a:ea typeface="Helvetica Neue"/>
                <a:cs typeface="Helvetica Neue"/>
              </a:defRPr>
            </a:pPr>
            <a:r>
              <a:rPr sz="1125" b="1">
                <a:solidFill>
                  <a:srgbClr val="5B706F"/>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31AA329F-C01C-4D80-9DE3-A788DE712D3B}"/>
              </a:ext>
            </a:extLst>
          </p:cNvPr>
          <p:cNvSpPr>
            <a:spLocks xmlns:a="http://schemas.openxmlformats.org/drawingml/2006/main" noGrp="1"/>
          </p:cNvSpPr>
          <p:nvPr/>
        </p:nvSpPr>
        <p:spPr>
          <a:xfrm xmlns:a="http://schemas.openxmlformats.org/drawingml/2006/main">
            <a:off x="609600" y="1390650"/>
            <a:ext cx="10972800" cy="0"/>
          </a:xfrm>
          <a:prstGeom xmlns:a="http://schemas.openxmlformats.org/drawingml/2006/main" prst="line">
            <a:avLst/>
          </a:prstGeom>
          <a:noFill xmlns:a="http://schemas.openxmlformats.org/drawingml/2006/main"/>
          <a:ln xmlns:a="http://schemas.openxmlformats.org/drawingml/2006/main" w="9525">
            <a:solidFill>
              <a:srgbClr val="D6DDD8"/>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8fb3fd56be4dac"/>
          <a:srcRect xmlns:a="http://schemas.openxmlformats.org/drawingml/2006/main" l="0" t="123" r="0" b="123"/>
          <a:stretch xmlns:a="http://schemas.openxmlformats.org/drawingml/2006/main">
            <a:fillRect l="0" t="0" r="0" b="0"/>
          </a:stretch>
        </p:blipFill>
        <p:spPr>
          <a:xfrm xmlns:a="http://schemas.openxmlformats.org/drawingml/2006/main">
            <a:off x="609600" y="1600200"/>
            <a:ext cx="3429000" cy="1924050"/>
          </a:xfrm>
          <a:prstGeom xmlns:a="http://schemas.openxmlformats.org/drawingml/2006/main" prst="roundRect">
            <a:avLst>
              <a:gd name="adj" fmla="val 5941"/>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28c0348a1724dbb"/>
          <a:srcRect xmlns:a="http://schemas.openxmlformats.org/drawingml/2006/main" l="0" t="123" r="0" b="123"/>
          <a:stretch xmlns:a="http://schemas.openxmlformats.org/drawingml/2006/main">
            <a:fillRect l="0" t="0" r="0" b="0"/>
          </a:stretch>
        </p:blipFill>
        <p:spPr>
          <a:xfrm xmlns:a="http://schemas.openxmlformats.org/drawingml/2006/main">
            <a:off x="4343400" y="1600200"/>
            <a:ext cx="3429000" cy="1924050"/>
          </a:xfrm>
          <a:prstGeom xmlns:a="http://schemas.openxmlformats.org/drawingml/2006/main" prst="roundRect">
            <a:avLst>
              <a:gd name="adj" fmla="val 5941"/>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ada31a3a8e14a85"/>
          <a:srcRect xmlns:a="http://schemas.openxmlformats.org/drawingml/2006/main" l="0" t="123" r="0" b="123"/>
          <a:stretch xmlns:a="http://schemas.openxmlformats.org/drawingml/2006/main">
            <a:fillRect l="0" t="0" r="0" b="0"/>
          </a:stretch>
        </p:blipFill>
        <p:spPr>
          <a:xfrm xmlns:a="http://schemas.openxmlformats.org/drawingml/2006/main">
            <a:off x="8077200" y="1600200"/>
            <a:ext cx="3429000" cy="1924050"/>
          </a:xfrm>
          <a:prstGeom xmlns:a="http://schemas.openxmlformats.org/drawingml/2006/main" prst="roundRect">
            <a:avLst>
              <a:gd name="adj" fmla="val 5941"/>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5cc9cfee21145a5"/>
          <a:srcRect xmlns:a="http://schemas.openxmlformats.org/drawingml/2006/main" l="0" t="123" r="0" b="123"/>
          <a:stretch xmlns:a="http://schemas.openxmlformats.org/drawingml/2006/main">
            <a:fillRect l="0" t="0" r="0" b="0"/>
          </a:stretch>
        </p:blipFill>
        <p:spPr>
          <a:xfrm xmlns:a="http://schemas.openxmlformats.org/drawingml/2006/main">
            <a:off x="609600" y="3695700"/>
            <a:ext cx="3429000" cy="1924050"/>
          </a:xfrm>
          <a:prstGeom xmlns:a="http://schemas.openxmlformats.org/drawingml/2006/main" prst="roundRect">
            <a:avLst>
              <a:gd name="adj" fmla="val 5941"/>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20fd2f99e594b3c"/>
          <a:srcRect xmlns:a="http://schemas.openxmlformats.org/drawingml/2006/main" l="0" t="123" r="0" b="123"/>
          <a:stretch xmlns:a="http://schemas.openxmlformats.org/drawingml/2006/main">
            <a:fillRect l="0" t="0" r="0" b="0"/>
          </a:stretch>
        </p:blipFill>
        <p:spPr>
          <a:xfrm xmlns:a="http://schemas.openxmlformats.org/drawingml/2006/main">
            <a:off x="4343400" y="3695700"/>
            <a:ext cx="3429000" cy="1924050"/>
          </a:xfrm>
          <a:prstGeom xmlns:a="http://schemas.openxmlformats.org/drawingml/2006/main" prst="roundRect">
            <a:avLst>
              <a:gd name="adj" fmla="val 5941"/>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8355642a5c3460f"/>
          <a:srcRect xmlns:a="http://schemas.openxmlformats.org/drawingml/2006/main" l="0" t="123" r="0" b="123"/>
          <a:stretch xmlns:a="http://schemas.openxmlformats.org/drawingml/2006/main">
            <a:fillRect l="0" t="0" r="0" b="0"/>
          </a:stretch>
        </p:blipFill>
        <p:spPr>
          <a:xfrm xmlns:a="http://schemas.openxmlformats.org/drawingml/2006/main">
            <a:off x="8077200" y="3695700"/>
            <a:ext cx="3429000" cy="1924050"/>
          </a:xfrm>
          <a:prstGeom xmlns:a="http://schemas.openxmlformats.org/drawingml/2006/main" prst="roundRect">
            <a:avLst>
              <a:gd name="adj" fmla="val 5941"/>
            </a:avLst>
          </a:prstGeom>
        </p:spPr>
      </p:pic>
      <p:sp>
        <p:nvSpPr>
          <p:cNvPr id="11" name="">
            <a:extLst xmlns:a="http://schemas.openxmlformats.org/drawingml/2006/main">
              <a:ext uri="{FF2B5EF4-FFF2-40B4-BE49-F238E27FC236}">
                <a16:creationId xmlns:a16="http://schemas.microsoft.com/office/drawing/2014/main" id="{DBCF6BB9-B5DD-4E35-A298-D28D7B7FD73C}"/>
              </a:ext>
            </a:extLst>
          </p:cNvPr>
          <p:cNvSpPr>
            <a:spLocks xmlns:a="http://schemas.openxmlformats.org/drawingml/2006/main" noGrp="1"/>
          </p:cNvSpPr>
          <p:nvPr/>
        </p:nvSpPr>
        <p:spPr>
          <a:xfrm xmlns:a="http://schemas.openxmlformats.org/drawingml/2006/main">
            <a:off x="609600" y="64960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5B706F"/>
                </a:solidFill>
                <a:latin typeface="Helvetica Neue"/>
                <a:ea typeface="Helvetica Neue"/>
                <a:cs typeface="Helvetica Neue"/>
              </a:defRPr>
            </a:pPr>
            <a:r>
              <a:rPr sz="900" b="0">
                <a:solidFill>
                  <a:srgbClr val="5B706F"/>
                </a:solidFill>
                <a:latin typeface="Helvetica Neue"/>
                <a:ea typeface="Helvetica Neue"/>
                <a:cs typeface="Helvetica Neue"/>
              </a:rPr>
              <a:t>The dashboard documents research outputs. It does not provide a clinical service</a:t>
            </a:r>
          </a:p>
        </p:txBody>
      </p:sp>
    </p:spTree>
    <p:extLst>
      <p:ext uri="{BB962C8B-B14F-4D97-AF65-F5344CB8AC3E}">
        <p14:creationId xmlns:p14="http://schemas.microsoft.com/office/powerpoint/2010/main" val="1546227199"/>
      </p:ext>
    </p:extLst>
  </p:cSld>
</p:sld>
</file>

<file path=ppt/slides/slide12.xml><?xml version="1.0" encoding="utf-8"?>
<p:sld xmlns:p="http://schemas.openxmlformats.org/presentationml/2006/main">
  <p:cSld>
    <p:bg>
      <p:bgPr>
        <a:solidFill xmlns:a="http://schemas.openxmlformats.org/drawingml/2006/main">
          <a:srgbClr val="082F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82B8C6-F145-46B6-B15E-47D28E1990F2}"/>
              </a:ext>
            </a:extLst>
          </p:cNvPr>
          <p:cNvSpPr>
            <a:spLocks xmlns:a="http://schemas.openxmlformats.org/drawingml/2006/main" noGrp="1"/>
          </p:cNvSpPr>
          <p:nvPr/>
        </p:nvSpPr>
        <p:spPr>
          <a:xfrm xmlns:a="http://schemas.openxmlformats.org/drawingml/2006/main">
            <a:off x="647700" y="4572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8DD8CE"/>
                </a:solidFill>
                <a:latin typeface="Helvetica Neue"/>
                <a:ea typeface="Helvetica Neue"/>
                <a:cs typeface="Helvetica Neue"/>
              </a:defRPr>
            </a:pPr>
            <a:r>
              <a:rPr sz="1200" b="1">
                <a:solidFill>
                  <a:srgbClr val="8DD8CE"/>
                </a:solidFill>
                <a:latin typeface="Helvetica Neue"/>
                <a:ea typeface="Helvetica Neue"/>
                <a:cs typeface="Helvetica Neue"/>
              </a:rPr>
              <a:t>CONCLUSION</a:t>
            </a:r>
          </a:p>
        </p:txBody>
      </p:sp>
      <p:sp>
        <p:nvSpPr>
          <p:cNvPr id="2" name="">
            <a:extLst xmlns:a="http://schemas.openxmlformats.org/drawingml/2006/main">
              <a:ext uri="{FF2B5EF4-FFF2-40B4-BE49-F238E27FC236}">
                <a16:creationId xmlns:a16="http://schemas.microsoft.com/office/drawing/2014/main" id="{5D1296D6-E582-464F-824D-B7C82BAB21F5}"/>
              </a:ext>
            </a:extLst>
          </p:cNvPr>
          <p:cNvSpPr>
            <a:spLocks xmlns:a="http://schemas.openxmlformats.org/drawingml/2006/main" noGrp="1"/>
          </p:cNvSpPr>
          <p:nvPr/>
        </p:nvSpPr>
        <p:spPr>
          <a:xfrm xmlns:a="http://schemas.openxmlformats.org/drawingml/2006/main">
            <a:off x="609600" y="106680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A complete research system</a:t>
            </a:r>
          </a:p>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with an honest evidence boundary</a:t>
            </a:r>
          </a:p>
        </p:txBody>
      </p:sp>
      <p:sp>
        <p:nvSpPr>
          <p:cNvPr id="3" name="">
            <a:extLst xmlns:a="http://schemas.openxmlformats.org/drawingml/2006/main">
              <a:ext uri="{FF2B5EF4-FFF2-40B4-BE49-F238E27FC236}">
                <a16:creationId xmlns:a16="http://schemas.microsoft.com/office/drawing/2014/main" id="{C1FDFF92-E769-4C36-AB0D-A65F84FF22BA}"/>
              </a:ext>
            </a:extLst>
          </p:cNvPr>
          <p:cNvSpPr>
            <a:spLocks xmlns:a="http://schemas.openxmlformats.org/drawingml/2006/main" noGrp="1"/>
          </p:cNvSpPr>
          <p:nvPr/>
        </p:nvSpPr>
        <p:spPr>
          <a:xfrm xmlns:a="http://schemas.openxmlformats.org/drawingml/2006/main">
            <a:off x="609600" y="3048000"/>
            <a:ext cx="5067300" cy="2247900"/>
          </a:xfrm>
          <a:prstGeom xmlns:a="http://schemas.openxmlformats.org/drawingml/2006/main" prst="roundRect">
            <a:avLst>
              <a:gd name="adj" fmla="val 7627"/>
            </a:avLst>
          </a:prstGeom>
          <a:solidFill xmlns:a="http://schemas.openxmlformats.org/drawingml/2006/main">
            <a:srgbClr val="123E43"/>
          </a:solidFill>
          <a:ln xmlns:a="http://schemas.openxmlformats.org/drawingml/2006/main" w="9525">
            <a:solidFill>
              <a:srgbClr val="2D5C60"/>
            </a:solidFill>
            <a:prstDash val="solid"/>
          </a:ln>
        </p:spPr>
      </p:sp>
      <p:sp>
        <p:nvSpPr>
          <p:cNvPr id="4" name="">
            <a:extLst xmlns:a="http://schemas.openxmlformats.org/drawingml/2006/main">
              <a:ext uri="{FF2B5EF4-FFF2-40B4-BE49-F238E27FC236}">
                <a16:creationId xmlns:a16="http://schemas.microsoft.com/office/drawing/2014/main" id="{D4784BDD-31E4-481F-82EE-CA5D2C36E22F}"/>
              </a:ext>
            </a:extLst>
          </p:cNvPr>
          <p:cNvSpPr>
            <a:spLocks xmlns:a="http://schemas.openxmlformats.org/drawingml/2006/main" noGrp="1"/>
          </p:cNvSpPr>
          <p:nvPr/>
        </p:nvSpPr>
        <p:spPr>
          <a:xfrm xmlns:a="http://schemas.openxmlformats.org/drawingml/2006/main">
            <a:off x="914400" y="3333750"/>
            <a:ext cx="422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8DD8CE"/>
                </a:solidFill>
                <a:latin typeface="Helvetica Neue"/>
                <a:ea typeface="Helvetica Neue"/>
                <a:cs typeface="Helvetica Neue"/>
              </a:defRPr>
            </a:pPr>
            <a:r>
              <a:rPr sz="1950" b="1">
                <a:solidFill>
                  <a:srgbClr val="8DD8CE"/>
                </a:solidFill>
                <a:latin typeface="Helvetica Neue"/>
                <a:ea typeface="Helvetica Neue"/>
                <a:cs typeface="Helvetica Neue"/>
              </a:rPr>
              <a:t>Defensible now</a:t>
            </a:r>
          </a:p>
        </p:txBody>
      </p:sp>
      <p:sp>
        <p:nvSpPr>
          <p:cNvPr id="5" name="">
            <a:extLst xmlns:a="http://schemas.openxmlformats.org/drawingml/2006/main">
              <a:ext uri="{FF2B5EF4-FFF2-40B4-BE49-F238E27FC236}">
                <a16:creationId xmlns:a16="http://schemas.microsoft.com/office/drawing/2014/main" id="{75FB8073-A52F-4B80-82A0-EB009DC4C224}"/>
              </a:ext>
            </a:extLst>
          </p:cNvPr>
          <p:cNvSpPr>
            <a:spLocks xmlns:a="http://schemas.openxmlformats.org/drawingml/2006/main" noGrp="1"/>
          </p:cNvSpPr>
          <p:nvPr/>
        </p:nvSpPr>
        <p:spPr>
          <a:xfrm xmlns:a="http://schemas.openxmlformats.org/drawingml/2006/main">
            <a:off x="876300" y="3790950"/>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600"/>
              </a:spcAft>
              <a:buChar char="•"/>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Shared preprocessing and inference implementation</a:t>
            </a:r>
          </a:p>
          <a:p xmlns:a="http://schemas.openxmlformats.org/drawingml/2006/main">
            <a:pPr marL="254000" indent="-127000">
              <a:spcAft>
                <a:spcPts val="600"/>
              </a:spcAft>
              <a:buChar char="•"/>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Auditable evaluation artifacts and release checks</a:t>
            </a:r>
          </a:p>
          <a:p xmlns:a="http://schemas.openxmlformats.org/drawingml/2006/main">
            <a:pPr marL="254000" indent="-127000">
              <a:spcAft>
                <a:spcPts val="600"/>
              </a:spcAft>
              <a:buChar char="•"/>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Patient-separated local checkpoint with uncertainty estimates</a:t>
            </a:r>
          </a:p>
        </p:txBody>
      </p:sp>
      <p:sp>
        <p:nvSpPr>
          <p:cNvPr id="6" name="">
            <a:extLst xmlns:a="http://schemas.openxmlformats.org/drawingml/2006/main">
              <a:ext uri="{FF2B5EF4-FFF2-40B4-BE49-F238E27FC236}">
                <a16:creationId xmlns:a16="http://schemas.microsoft.com/office/drawing/2014/main" id="{848529B3-6A46-449C-AE99-0EE5AEEB708F}"/>
              </a:ext>
            </a:extLst>
          </p:cNvPr>
          <p:cNvSpPr>
            <a:spLocks xmlns:a="http://schemas.openxmlformats.org/drawingml/2006/main" noGrp="1"/>
          </p:cNvSpPr>
          <p:nvPr/>
        </p:nvSpPr>
        <p:spPr>
          <a:xfrm xmlns:a="http://schemas.openxmlformats.org/drawingml/2006/main">
            <a:off x="5981700" y="3048000"/>
            <a:ext cx="5600700" cy="2247900"/>
          </a:xfrm>
          <a:prstGeom xmlns:a="http://schemas.openxmlformats.org/drawingml/2006/main" prst="roundRect">
            <a:avLst>
              <a:gd name="adj" fmla="val 7627"/>
            </a:avLst>
          </a:prstGeom>
          <a:solidFill xmlns:a="http://schemas.openxmlformats.org/drawingml/2006/main">
            <a:srgbClr val="F5E8C8"/>
          </a:solidFill>
          <a:ln xmlns:a="http://schemas.openxmlformats.org/drawingml/2006/main" w="9525">
            <a:solidFill>
              <a:srgbClr val="D6B56F"/>
            </a:solidFill>
            <a:prstDash val="solid"/>
          </a:ln>
        </p:spPr>
      </p:sp>
      <p:sp>
        <p:nvSpPr>
          <p:cNvPr id="7" name="">
            <a:extLst xmlns:a="http://schemas.openxmlformats.org/drawingml/2006/main">
              <a:ext uri="{FF2B5EF4-FFF2-40B4-BE49-F238E27FC236}">
                <a16:creationId xmlns:a16="http://schemas.microsoft.com/office/drawing/2014/main" id="{27796C04-60E5-4D76-AEC3-066AE6EF0D5E}"/>
              </a:ext>
            </a:extLst>
          </p:cNvPr>
          <p:cNvSpPr>
            <a:spLocks xmlns:a="http://schemas.openxmlformats.org/drawingml/2006/main" noGrp="1"/>
          </p:cNvSpPr>
          <p:nvPr/>
        </p:nvSpPr>
        <p:spPr>
          <a:xfrm xmlns:a="http://schemas.openxmlformats.org/drawingml/2006/main">
            <a:off x="6286500" y="33337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6E4C08"/>
                </a:solidFill>
                <a:latin typeface="Helvetica Neue"/>
                <a:ea typeface="Helvetica Neue"/>
                <a:cs typeface="Helvetica Neue"/>
              </a:defRPr>
            </a:pPr>
            <a:r>
              <a:rPr sz="1800" b="1">
                <a:solidFill>
                  <a:srgbClr val="6E4C08"/>
                </a:solidFill>
                <a:latin typeface="Helvetica Neue"/>
                <a:ea typeface="Helvetica Neue"/>
                <a:cs typeface="Helvetica Neue"/>
              </a:rPr>
              <a:t>Claim boundary</a:t>
            </a:r>
          </a:p>
        </p:txBody>
      </p:sp>
      <p:sp>
        <p:nvSpPr>
          <p:cNvPr id="8" name="">
            <a:extLst xmlns:a="http://schemas.openxmlformats.org/drawingml/2006/main">
              <a:ext uri="{FF2B5EF4-FFF2-40B4-BE49-F238E27FC236}">
                <a16:creationId xmlns:a16="http://schemas.microsoft.com/office/drawing/2014/main" id="{C6B9E2EF-2D72-4BAC-89AA-17FE59B1E124}"/>
              </a:ext>
            </a:extLst>
          </p:cNvPr>
          <p:cNvSpPr>
            <a:spLocks xmlns:a="http://schemas.openxmlformats.org/drawingml/2006/main" noGrp="1"/>
          </p:cNvSpPr>
          <p:nvPr/>
        </p:nvSpPr>
        <p:spPr>
          <a:xfrm xmlns:a="http://schemas.openxmlformats.org/drawingml/2006/main">
            <a:off x="6229350" y="40195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800"/>
              </a:spcAft>
              <a:buChar char="•"/>
              <a:defRPr sz="1425">
                <a:solidFill>
                  <a:srgbClr val="4F4022"/>
                </a:solidFill>
                <a:latin typeface="Helvetica Neue"/>
                <a:ea typeface="Helvetica Neue"/>
                <a:cs typeface="Helvetica Neue"/>
              </a:defRPr>
            </a:pPr>
            <a:r>
              <a:rPr sz="1425">
                <a:solidFill>
                  <a:srgbClr val="4F4022"/>
                </a:solidFill>
                <a:latin typeface="Helvetica Neue"/>
                <a:ea typeface="Helvetica Neue"/>
                <a:cs typeface="Helvetica Neue"/>
              </a:rPr>
              <a:t>Clinical effectiveness or diagnostic safety</a:t>
            </a:r>
          </a:p>
          <a:p xmlns:a="http://schemas.openxmlformats.org/drawingml/2006/main">
            <a:pPr marL="254000" indent="-127000">
              <a:spcAft>
                <a:spcPts val="800"/>
              </a:spcAft>
              <a:buChar char="•"/>
              <a:defRPr sz="1425">
                <a:solidFill>
                  <a:srgbClr val="4F4022"/>
                </a:solidFill>
                <a:latin typeface="Helvetica Neue"/>
                <a:ea typeface="Helvetica Neue"/>
                <a:cs typeface="Helvetica Neue"/>
              </a:defRPr>
            </a:pPr>
            <a:r>
              <a:rPr sz="1425">
                <a:solidFill>
                  <a:srgbClr val="4F4022"/>
                </a:solidFill>
                <a:latin typeface="Helvetica Neue"/>
                <a:ea typeface="Helvetica Neue"/>
                <a:cs typeface="Helvetica Neue"/>
              </a:rPr>
              <a:t>External validation beyond the local combined cohort</a:t>
            </a:r>
          </a:p>
          <a:p xmlns:a="http://schemas.openxmlformats.org/drawingml/2006/main">
            <a:pPr marL="254000" indent="-127000">
              <a:spcAft>
                <a:spcPts val="800"/>
              </a:spcAft>
              <a:buChar char="•"/>
              <a:defRPr sz="1425">
                <a:solidFill>
                  <a:srgbClr val="4F4022"/>
                </a:solidFill>
                <a:latin typeface="Helvetica Neue"/>
                <a:ea typeface="Helvetica Neue"/>
                <a:cs typeface="Helvetica Neue"/>
              </a:defRPr>
            </a:pPr>
            <a:r>
              <a:rPr sz="1425">
                <a:solidFill>
                  <a:srgbClr val="4F4022"/>
                </a:solidFill>
                <a:latin typeface="Helvetica Neue"/>
                <a:ea typeface="Helvetica Neue"/>
                <a:cs typeface="Helvetica Neue"/>
              </a:rPr>
              <a:t>Statistically proven superiority over other architectures</a:t>
            </a:r>
          </a:p>
        </p:txBody>
      </p:sp>
      <p:sp>
        <p:nvSpPr>
          <p:cNvPr id="9" name="">
            <a:extLst xmlns:a="http://schemas.openxmlformats.org/drawingml/2006/main">
              <a:ext uri="{FF2B5EF4-FFF2-40B4-BE49-F238E27FC236}">
                <a16:creationId xmlns:a16="http://schemas.microsoft.com/office/drawing/2014/main" id="{5859027B-D42C-48EE-8DE0-7E111459A947}"/>
              </a:ext>
            </a:extLst>
          </p:cNvPr>
          <p:cNvSpPr>
            <a:spLocks xmlns:a="http://schemas.openxmlformats.org/drawingml/2006/main" noGrp="1"/>
          </p:cNvSpPr>
          <p:nvPr/>
        </p:nvSpPr>
        <p:spPr>
          <a:xfrm xmlns:a="http://schemas.openxmlformats.org/drawingml/2006/main">
            <a:off x="609600" y="56197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8DD8CE"/>
                </a:solidFill>
                <a:latin typeface="Helvetica Neue"/>
                <a:ea typeface="Helvetica Neue"/>
                <a:cs typeface="Helvetica Neue"/>
              </a:defRPr>
            </a:pPr>
            <a:r>
              <a:rPr sz="1275" b="1">
                <a:solidFill>
                  <a:srgbClr val="8DD8CE"/>
                </a:solidFill>
                <a:latin typeface="Helvetica Neue"/>
                <a:ea typeface="Helvetica Neue"/>
                <a:cs typeface="Helvetica Neue"/>
              </a:rPr>
              <a:t>Product repository: github.com/DavidAkerele/breast-cancer-ultrasound-classification-ml</a:t>
            </a:r>
          </a:p>
        </p:txBody>
      </p:sp>
      <p:sp>
        <p:nvSpPr>
          <p:cNvPr id="10" name="">
            <a:extLst xmlns:a="http://schemas.openxmlformats.org/drawingml/2006/main">
              <a:ext uri="{FF2B5EF4-FFF2-40B4-BE49-F238E27FC236}">
                <a16:creationId xmlns:a16="http://schemas.microsoft.com/office/drawing/2014/main" id="{5209E12C-1E6A-4FD5-9F00-7582685858D7}"/>
              </a:ext>
            </a:extLst>
          </p:cNvPr>
          <p:cNvSpPr>
            <a:spLocks xmlns:a="http://schemas.openxmlformats.org/drawingml/2006/main" noGrp="1"/>
          </p:cNvSpPr>
          <p:nvPr/>
        </p:nvSpPr>
        <p:spPr>
          <a:xfrm xmlns:a="http://schemas.openxmlformats.org/drawingml/2006/main">
            <a:off x="609600" y="604837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Questions</a:t>
            </a:r>
          </a:p>
        </p:txBody>
      </p:sp>
      <p:sp>
        <p:nvSpPr>
          <p:cNvPr id="11" name="">
            <a:extLst xmlns:a="http://schemas.openxmlformats.org/drawingml/2006/main">
              <a:ext uri="{FF2B5EF4-FFF2-40B4-BE49-F238E27FC236}">
                <a16:creationId xmlns:a16="http://schemas.microsoft.com/office/drawing/2014/main" id="{9C2EDC6D-87E9-455E-A7EC-B5B17258B105}"/>
              </a:ext>
            </a:extLst>
          </p:cNvPr>
          <p:cNvSpPr>
            <a:spLocks xmlns:a="http://schemas.openxmlformats.org/drawingml/2006/main" noGrp="1"/>
          </p:cNvSpPr>
          <p:nvPr/>
        </p:nvSpPr>
        <p:spPr>
          <a:xfrm xmlns:a="http://schemas.openxmlformats.org/drawingml/2006/main">
            <a:off x="5429250" y="6086475"/>
            <a:ext cx="615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7DAD6"/>
                </a:solidFill>
                <a:latin typeface="Helvetica Neue"/>
                <a:ea typeface="Helvetica Neue"/>
                <a:cs typeface="Helvetica Neue"/>
              </a:defRPr>
            </a:pPr>
            <a:r>
              <a:rPr sz="1125" b="0">
                <a:solidFill>
                  <a:srgbClr val="C7DAD6"/>
                </a:solidFill>
                <a:latin typeface="Helvetica Neue"/>
                <a:ea typeface="Helvetica Neue"/>
                <a:cs typeface="Helvetica Neue"/>
              </a:rPr>
              <a:t>No diagnostic, BI-RADS, or management inference is authorised by this prototype.</a:t>
            </a:r>
          </a:p>
        </p:txBody>
      </p:sp>
    </p:spTree>
    <p:extLst>
      <p:ext uri="{BB962C8B-B14F-4D97-AF65-F5344CB8AC3E}">
        <p14:creationId xmlns:p14="http://schemas.microsoft.com/office/powerpoint/2010/main" val="580008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2026-09-11T13:11:28.1670000Z</dcterms:created>
  <dcterms:modified xsi:type="dcterms:W3CDTF">2026-09-11T13:11:28.1670000Z</dcterms:modified>
</coreProperties>
</file>