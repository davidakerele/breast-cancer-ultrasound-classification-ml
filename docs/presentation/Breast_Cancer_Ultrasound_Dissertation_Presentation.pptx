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1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f275380a8c34e27" /><Relationship Type="http://schemas.openxmlformats.org/officeDocument/2006/relationships/extended-properties" Target="/docProps/app.xml" Id="R3c2c91aeed1d49b9" /><Relationship Type="http://schemas.openxmlformats.org/officeDocument/2006/relationships/officeDocument" Target="/ppt/presentation.xml" Id="R0cf31613edbb41c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345877193de46d8"/>
  </p:sldMasterIdLst>
  <p:notesMasterIdLst>
    <p:notesMasterId xmlns:r="http://schemas.openxmlformats.org/officeDocument/2006/relationships" r:id="R2431007817684d8b"/>
  </p:notesMasterIdLst>
  <p:sldIdLst>
    <p:sldId xmlns:r="http://schemas.openxmlformats.org/officeDocument/2006/relationships" id="256" r:id="Rd0f00b0ed8e749a2"/>
    <p:sldId xmlns:r="http://schemas.openxmlformats.org/officeDocument/2006/relationships" id="257" r:id="R7cb2b0b1277c43b7"/>
    <p:sldId xmlns:r="http://schemas.openxmlformats.org/officeDocument/2006/relationships" id="258" r:id="Rb0df0ac58d994b9d"/>
    <p:sldId xmlns:r="http://schemas.openxmlformats.org/officeDocument/2006/relationships" id="259" r:id="R3eb08ec9ee7849aa"/>
    <p:sldId xmlns:r="http://schemas.openxmlformats.org/officeDocument/2006/relationships" id="260" r:id="R3ce0fe0605de4632"/>
    <p:sldId xmlns:r="http://schemas.openxmlformats.org/officeDocument/2006/relationships" id="261" r:id="Rc2f6867c7e3b4d0c"/>
    <p:sldId xmlns:r="http://schemas.openxmlformats.org/officeDocument/2006/relationships" id="262" r:id="Rc730b46379394820"/>
    <p:sldId xmlns:r="http://schemas.openxmlformats.org/officeDocument/2006/relationships" id="263" r:id="R8e1d6575bb914b7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104980e0c554d10" /><Relationship Type="http://schemas.openxmlformats.org/officeDocument/2006/relationships/slideMaster" Target="/ppt/slideMasters/slideMaster1.xml" Id="Rc345877193de46d8" /><Relationship Type="http://schemas.openxmlformats.org/officeDocument/2006/relationships/notesMaster" Target="/ppt/notesMasters/notesMaster1.xml" Id="R2431007817684d8b" /><Relationship Type="http://schemas.openxmlformats.org/officeDocument/2006/relationships/presProps" Target="/ppt/presProps.xml" Id="R887a0d54ccbc40a2" /><Relationship Type="http://schemas.openxmlformats.org/officeDocument/2006/relationships/tableStyles" Target="/ppt/tableStyles.xml" Id="R67f3001969944fd5" /><Relationship Type="http://schemas.openxmlformats.org/officeDocument/2006/relationships/slide" Target="/ppt/slides/slide1.xml" Id="Rd0f00b0ed8e749a2" /><Relationship Type="http://schemas.openxmlformats.org/officeDocument/2006/relationships/slide" Target="/ppt/slides/slide2.xml" Id="R7cb2b0b1277c43b7" /><Relationship Type="http://schemas.openxmlformats.org/officeDocument/2006/relationships/slide" Target="/ppt/slides/slide3.xml" Id="Rb0df0ac58d994b9d" /><Relationship Type="http://schemas.openxmlformats.org/officeDocument/2006/relationships/slide" Target="/ppt/slides/slide4.xml" Id="R3eb08ec9ee7849aa" /><Relationship Type="http://schemas.openxmlformats.org/officeDocument/2006/relationships/slide" Target="/ppt/slides/slide5.xml" Id="R3ce0fe0605de4632" /><Relationship Type="http://schemas.openxmlformats.org/officeDocument/2006/relationships/slide" Target="/ppt/slides/slide6.xml" Id="Rc2f6867c7e3b4d0c" /><Relationship Type="http://schemas.openxmlformats.org/officeDocument/2006/relationships/slide" Target="/ppt/slides/slide7.xml" Id="Rc730b46379394820" /><Relationship Type="http://schemas.openxmlformats.org/officeDocument/2006/relationships/slide" Target="/ppt/slides/slide8.xml" Id="R8e1d6575bb914b7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e5421112d61458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04e5b569da84585" /><Relationship Type="http://schemas.openxmlformats.org/officeDocument/2006/relationships/notesMaster" Target="/ppt/notesMasters/notesMaster1.xml" Id="R9fa7ad34c4254e2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c826e5849f44ec8" /><Relationship Type="http://schemas.openxmlformats.org/officeDocument/2006/relationships/notesMaster" Target="/ppt/notesMasters/notesMaster1.xml" Id="R04d8f8ace90a4b2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5c8f174e92c4ac3" /><Relationship Type="http://schemas.openxmlformats.org/officeDocument/2006/relationships/notesMaster" Target="/ppt/notesMasters/notesMaster1.xml" Id="R5e4f0e840fa84ed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903dda241bb44b3" /><Relationship Type="http://schemas.openxmlformats.org/officeDocument/2006/relationships/notesMaster" Target="/ppt/notesMasters/notesMaster1.xml" Id="R3b62c6d1de0440d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15f6520a8234e84" /><Relationship Type="http://schemas.openxmlformats.org/officeDocument/2006/relationships/notesMaster" Target="/ppt/notesMasters/notesMaster1.xml" Id="R57bbd289983b4a5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a89e58cf40e40de" /><Relationship Type="http://schemas.openxmlformats.org/officeDocument/2006/relationships/notesMaster" Target="/ppt/notesMasters/notesMaster1.xml" Id="R4f700d2bc8854f2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b2a9f888276409b" /><Relationship Type="http://schemas.openxmlformats.org/officeDocument/2006/relationships/notesMaster" Target="/ppt/notesMasters/notesMaster1.xml" Id="R71b2e954d1704e5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67ad63f20324172" /><Relationship Type="http://schemas.openxmlformats.org/officeDocument/2006/relationships/notesMaster" Target="/ppt/notesMasters/notesMaster1.xml" Id="Rf260a096ee37426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with the evidence boundary: this is a reproducible research prototype. The supplied cohort currently fails its subject-level split audit.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Frame the dissertation around two evidence levels. The present result validates integration, not patient-independent or clinical performance.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Point out that the audit is a first-class stage, not an appendix. Every downstream surface shares the same preprocessing contract.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outputs/data_audit.json. Counts are image-folder counts, not an audited patient cohort. Explain the three concrete audit failures.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current implementation supports all three strategies. No comparative preprocessing claim is made until the subject-level cohort is rebuilt.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outputs/metrics.json generated on the 120-image test folders. Accuracy 0.7833; macro F1 0.7811; macro recall 0.7809; ROC-AUC 0.8612. Audit status: failed.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Emphasise reproducibility as the dissertation's present contribution. These controls prevent illustrative UI values from being mistaken for measured findings.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on the distinction between a release-ready research framework and an unfinished patient-independent experiment. Invite questions.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ee96e5fab2f417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97d78133f2e46e7" /><Relationship Type="http://schemas.openxmlformats.org/officeDocument/2006/relationships/slideLayout" Target="/ppt/slideLayouts/slideLayout1.xml" Id="R50b01113c51344b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0b01113c51344b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bc25d5e91143c4" /><Relationship Type="http://schemas.openxmlformats.org/officeDocument/2006/relationships/notesSlide" Target="/ppt/notesSlides/notesSlide1.xml" Id="Rd1859fa8ceea4f1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7bc8a044564994" /><Relationship Type="http://schemas.openxmlformats.org/officeDocument/2006/relationships/notesSlide" Target="/ppt/notesSlides/notesSlide2.xml" Id="R637ac56d93e04fb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bb7f9b21394b79" /><Relationship Type="http://schemas.openxmlformats.org/officeDocument/2006/relationships/notesSlide" Target="/ppt/notesSlides/notesSlide3.xml" Id="Rfe759cb343c84c9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3d9c333ce0496a" /><Relationship Type="http://schemas.openxmlformats.org/officeDocument/2006/relationships/notesSlide" Target="/ppt/notesSlides/notesSlide4.xml" Id="R8fb8b543e2e54fa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ed85ffa6234fe5" /><Relationship Type="http://schemas.openxmlformats.org/officeDocument/2006/relationships/notesSlide" Target="/ppt/notesSlides/notesSlide5.xml" Id="R4573c0c507de452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48dded28b74492" /><Relationship Type="http://schemas.openxmlformats.org/officeDocument/2006/relationships/chart" Target="/ppt/slides/charts/chart1.xml" Id="R6b7288de05834fe2" /><Relationship Type="http://schemas.openxmlformats.org/officeDocument/2006/relationships/notesSlide" Target="/ppt/notesSlides/notesSlide6.xml" Id="R77b6d4602d46433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a09d5007c2449c" /><Relationship Type="http://schemas.openxmlformats.org/officeDocument/2006/relationships/notesSlide" Target="/ppt/notesSlides/notesSlide7.xml" Id="R6db1ea2f4d30493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04a9a41621468b" /><Relationship Type="http://schemas.openxmlformats.org/officeDocument/2006/relationships/notesSlide" Target="/ppt/notesSlides/notesSlide8.xml" Id="R3cdd0c86e56c4232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Score</c:v>
          </c:tx>
          <c:spPr>
            <a:solidFill xmlns:a="http://schemas.openxmlformats.org/drawingml/2006/main">
              <a:srgbClr val="0C746D"/>
            </a:solidFill>
          </c:spPr>
          <c:cat>
            <c:strRef>
              <c:f>'Chart Data'!$A$2:$A$5</c:f>
              <c:strCache>
                <c:ptCount val="4"/>
                <c:pt idx="0">
                  <c:v>Accuracy</c:v>
                </c:pt>
                <c:pt idx="1">
                  <c:v>Macro F1</c:v>
                </c:pt>
                <c:pt idx="2">
                  <c:v>Macro recall</c:v>
                </c:pt>
                <c:pt idx="3">
                  <c:v>ROC-AUC</c:v>
                </c:pt>
              </c:strCache>
            </c:strRef>
          </c:cat>
          <c:val>
            <c:numRef>
              <c:f>'Chart Data'!$B$2:$B$5</c:f>
              <c:numCache>
                <c:formatCode>General</c:formatCode>
                <c:ptCount val="4"/>
                <c:pt idx="0">
                  <c:v>0.7833</c:v>
                </c:pt>
                <c:pt idx="1">
                  <c:v>0.7811</c:v>
                </c:pt>
                <c:pt idx="2">
                  <c:v>0.7809</c:v>
                </c:pt>
                <c:pt idx="3">
                  <c:v>0.8612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 b="1">
                  <a:solidFill>
                    <a:srgbClr val="082F35"/>
                  </a:solidFill>
                  <a:latin typeface="Helvetica Neue"/>
                  <a:ea typeface="Helvetica Neue"/>
                  <a:cs typeface="Helvetica Neue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8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6DDD8"/>
              </a:solidFill>
              <a:prstDash val="solid"/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6DDD8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6F1E8"/>
        </a:solidFill>
      </c:spPr>
    </c:plotArea>
    <c:plotVisOnly val="1"/>
  </c:chart>
  <c:spPr>
    <a:solidFill xmlns:a="http://schemas.openxmlformats.org/drawingml/2006/main">
      <a:srgbClr val="F6F1E8"/>
    </a:solidFill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82F3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9546A1-1DBE-4210-B8A3-9CF13A76A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D8CE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47DE37-EBC3-4F49-8BF8-6DD7BE65E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9600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8DD8C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8DD8CE"/>
                </a:solidFill>
                <a:latin typeface="Helvetica Neue"/>
                <a:ea typeface="Helvetica Neue"/>
                <a:cs typeface="Helvetica Neue"/>
              </a:rPr>
              <a:t>MSc DISSERTATION · 2026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48EE59-6CBC-4F3C-9940-F4A99E026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33500"/>
            <a:ext cx="8763000" cy="2762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4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Breast ultrasound</a:t>
            </a:r>
          </a:p>
          <a:p xmlns:a="http://schemas.openxmlformats.org/drawingml/2006/main">
            <a:pPr algn="l">
              <a:defRPr sz="4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4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classification using</a:t>
            </a:r>
          </a:p>
          <a:p xmlns:a="http://schemas.openxmlformats.org/drawingml/2006/main">
            <a:pPr algn="l">
              <a:defRPr sz="4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4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deep learning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4491B6-FE88-4FBD-83C2-5CCE15CA8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29125"/>
            <a:ext cx="7524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D7E8E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D7E8E3"/>
                </a:solidFill>
                <a:latin typeface="Helvetica Neue"/>
                <a:ea typeface="Helvetica Neue"/>
                <a:cs typeface="Helvetica Neue"/>
              </a:rPr>
              <a:t>A reproducibility-focused study of preprocessing, convolutional models, and evidence integrity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1578F6-7172-495F-9A6C-DD83B9503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476750"/>
            <a:ext cx="2686050" cy="704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E8C8"/>
          </a:solidFill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6E4C0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6E4C08"/>
                </a:solidFill>
                <a:latin typeface="Helvetica Neue"/>
                <a:ea typeface="Helvetica Neue"/>
                <a:cs typeface="Helvetica Neue"/>
              </a:rPr>
              <a:t>PROVISIONAL EVIDENCE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873088-44F4-49E1-A355-1A7D26EDE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810250"/>
            <a:ext cx="685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Akerele David Damilola</a:t>
            </a:r>
          </a:p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Manchester Metropolitan University</a:t>
            </a:r>
          </a:p>
        </p:txBody>
      </p:sp>
    </p:spTree>
    <p:extLst>
      <p:ext uri="{BB962C8B-B14F-4D97-AF65-F5344CB8AC3E}">
        <p14:creationId xmlns:p14="http://schemas.microsoft.com/office/powerpoint/2010/main" val="135077540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AC3BB4A-30EE-4F33-A36E-E947A484C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742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C74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0C746D"/>
                </a:solidFill>
                <a:latin typeface="Helvetica Neue"/>
                <a:ea typeface="Helvetica Neue"/>
                <a:cs typeface="Helvetica Neue"/>
              </a:rPr>
              <a:t>WHY THIS STUDY MATTERS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D545C8-9155-43F3-9F0B-520EFB400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57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82F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082F35"/>
                </a:solidFill>
                <a:latin typeface="Helvetica Neue"/>
                <a:ea typeface="Helvetica Neue"/>
                <a:cs typeface="Helvetica Neue"/>
              </a:rPr>
              <a:t>A strong score is not the same as strong evidence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2C5574-E7B2-4981-AB9C-14BD8AD6C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0005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5B706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5B706F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D45C0A-D68E-44BA-BE9A-114926B01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90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DD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7520C8-6C4C-48D8-A220-D0B2551C3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33550"/>
            <a:ext cx="5143500" cy="4076700"/>
          </a:xfrm>
          <a:prstGeom xmlns:a="http://schemas.openxmlformats.org/drawingml/2006/main" prst="roundRect">
            <a:avLst>
              <a:gd name="adj" fmla="val 4206"/>
            </a:avLst>
          </a:prstGeom>
          <a:solidFill xmlns:a="http://schemas.openxmlformats.org/drawingml/2006/main">
            <a:srgbClr val="FFFCF6"/>
          </a:solidFill>
          <a:ln xmlns:a="http://schemas.openxmlformats.org/drawingml/2006/main" w="9525">
            <a:solidFill>
              <a:srgbClr val="D6DDD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60D845-28C5-415D-84D3-174BD8894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19300"/>
            <a:ext cx="428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5343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153438"/>
                </a:solidFill>
                <a:latin typeface="Helvetica Neue"/>
                <a:ea typeface="Helvetica Neue"/>
                <a:cs typeface="Helvetica Neue"/>
              </a:rPr>
              <a:t>The modelling problem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64E110A-93BA-4181-A90D-7E63F82BF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09850"/>
            <a:ext cx="4419600" cy="2686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54000" indent="-127000">
              <a:spcAft>
                <a:spcPts val="1200"/>
              </a:spcAft>
              <a:buChar char="•"/>
              <a:defRPr sz="1575">
                <a:solidFill>
                  <a:srgbClr val="15343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>
                <a:solidFill>
                  <a:srgbClr val="153438"/>
                </a:solidFill>
                <a:latin typeface="Helvetica Neue"/>
                <a:ea typeface="Helvetica Neue"/>
                <a:cs typeface="Helvetica Neue"/>
              </a:rPr>
              <a:t>Ultrasound varies with operator, device, acquisition settings, anatomy, and speckle.</a:t>
            </a:r>
          </a:p>
          <a:p xmlns:a="http://schemas.openxmlformats.org/drawingml/2006/main">
            <a:pPr marL="254000" indent="-127000">
              <a:spcAft>
                <a:spcPts val="1200"/>
              </a:spcAft>
              <a:buChar char="•"/>
              <a:defRPr sz="1575">
                <a:solidFill>
                  <a:srgbClr val="15343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>
                <a:solidFill>
                  <a:srgbClr val="153438"/>
                </a:solidFill>
                <a:latin typeface="Helvetica Neue"/>
                <a:ea typeface="Helvetica Neue"/>
                <a:cs typeface="Helvetica Neue"/>
              </a:rPr>
              <a:t>Rectangular images can be geometrically distorted by direct square resizing.</a:t>
            </a:r>
          </a:p>
          <a:p xmlns:a="http://schemas.openxmlformats.org/drawingml/2006/main">
            <a:pPr marL="254000" indent="-127000">
              <a:spcAft>
                <a:spcPts val="1200"/>
              </a:spcAft>
              <a:buChar char="•"/>
              <a:defRPr sz="1575">
                <a:solidFill>
                  <a:srgbClr val="15343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>
                <a:solidFill>
                  <a:srgbClr val="153438"/>
                </a:solidFill>
                <a:latin typeface="Helvetica Neue"/>
                <a:ea typeface="Helvetica Neue"/>
                <a:cs typeface="Helvetica Neue"/>
              </a:rPr>
              <a:t>Small public datasets make leakage and undocumented preprocessing unusually consequential.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604251C-5FB0-4A20-B53B-D612C454F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1733550"/>
            <a:ext cx="5524500" cy="1943100"/>
          </a:xfrm>
          <a:prstGeom xmlns:a="http://schemas.openxmlformats.org/drawingml/2006/main" prst="roundRect">
            <a:avLst>
              <a:gd name="adj" fmla="val 8824"/>
            </a:avLst>
          </a:prstGeom>
          <a:solidFill xmlns:a="http://schemas.openxmlformats.org/drawingml/2006/main">
            <a:srgbClr val="082F35"/>
          </a:solidFill>
          <a:ln xmlns:a="http://schemas.openxmlformats.org/drawingml/2006/main" w="9525">
            <a:solidFill>
              <a:srgbClr val="082F3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36D315E-E8FA-4609-A088-81318E0B4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047875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Engineering evidence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10374A7-3EF2-4B88-9F5C-AA1CFAFA2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609850"/>
            <a:ext cx="46482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DDEAE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DDEAE7"/>
                </a:solidFill>
                <a:latin typeface="Helvetica Neue"/>
                <a:ea typeface="Helvetica Neue"/>
                <a:cs typeface="Helvetica Neue"/>
              </a:rPr>
              <a:t>The code path executes consistently; artifacts are reproducible and auditable.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50356D1-8805-4AF3-A307-632E4720D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867150"/>
            <a:ext cx="5524500" cy="1943100"/>
          </a:xfrm>
          <a:prstGeom xmlns:a="http://schemas.openxmlformats.org/drawingml/2006/main" prst="roundRect">
            <a:avLst>
              <a:gd name="adj" fmla="val 8824"/>
            </a:avLst>
          </a:prstGeom>
          <a:solidFill xmlns:a="http://schemas.openxmlformats.org/drawingml/2006/main">
            <a:srgbClr val="F3DEDA"/>
          </a:solidFill>
          <a:ln xmlns:a="http://schemas.openxmlformats.org/drawingml/2006/main" w="9525">
            <a:solidFill>
              <a:srgbClr val="D7AAA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0C7BF2F-0147-4E16-8701-321A6D4CB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17195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9B3F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9B3F36"/>
                </a:solidFill>
                <a:latin typeface="Helvetica Neue"/>
                <a:ea typeface="Helvetica Neue"/>
                <a:cs typeface="Helvetica Neue"/>
              </a:rPr>
              <a:t>Generalisation evidence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9EDB32A-8303-4300-92DA-1A7769330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733925"/>
            <a:ext cx="46482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73E3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673E39"/>
                </a:solidFill>
                <a:latin typeface="Helvetica Neue"/>
                <a:ea typeface="Helvetica Neue"/>
                <a:cs typeface="Helvetica Neue"/>
              </a:rPr>
              <a:t>Requires verified subject separation. The current local cohort does not meet this condition.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6ACAC62-956F-400A-89D9-73C926F50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972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706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B706F"/>
                </a:solidFill>
                <a:latin typeface="Helvetica Neue"/>
                <a:ea typeface="Helvetica Neue"/>
                <a:cs typeface="Helvetica Neue"/>
              </a:rPr>
              <a:t>MSc dissertation · research prototype</a:t>
            </a:r>
          </a:p>
        </p:txBody>
      </p:sp>
    </p:spTree>
    <p:extLst>
      <p:ext uri="{BB962C8B-B14F-4D97-AF65-F5344CB8AC3E}">
        <p14:creationId xmlns:p14="http://schemas.microsoft.com/office/powerpoint/2010/main" val="14141236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6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4BBB648-8C8C-4D5A-A8DF-6D94B6F3A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742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C74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0C746D"/>
                </a:solidFill>
                <a:latin typeface="Helvetica Neue"/>
                <a:ea typeface="Helvetica Neue"/>
                <a:cs typeface="Helvetica Neue"/>
              </a:rPr>
              <a:t>SYSTEM DESIGN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ED4111-4A64-4BF8-A92A-452AED6C3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57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82F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082F35"/>
                </a:solidFill>
                <a:latin typeface="Helvetica Neue"/>
                <a:ea typeface="Helvetica Neue"/>
                <a:cs typeface="Helvetica Neue"/>
              </a:rPr>
              <a:t>One preprocessing path across every executable surface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BC82DB-D1AD-4B42-8EF1-3028309F6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0005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5B706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5B706F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BA8783-FE27-4677-881F-ACBF0E243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90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DD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F66C91-CE57-49F3-9E70-AA86364C8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62200"/>
            <a:ext cx="1657350" cy="1714500"/>
          </a:xfrm>
          <a:prstGeom xmlns:a="http://schemas.openxmlformats.org/drawingml/2006/main" prst="roundRect">
            <a:avLst>
              <a:gd name="adj" fmla="val 9195"/>
            </a:avLst>
          </a:prstGeom>
          <a:solidFill xmlns:a="http://schemas.openxmlformats.org/drawingml/2006/main">
            <a:srgbClr val="FFFCF6"/>
          </a:solidFill>
          <a:ln xmlns:a="http://schemas.openxmlformats.org/drawingml/2006/main" w="9525">
            <a:solidFill>
              <a:srgbClr val="D6DDD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D0110F-CAD4-4663-82DA-AEE1EE869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7175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C74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0C746D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AC4547-D576-4EFA-A031-CC0D396E9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62275"/>
            <a:ext cx="1276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82F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082F35"/>
                </a:solidFill>
                <a:latin typeface="Helvetica Neue"/>
                <a:ea typeface="Helvetica Neue"/>
                <a:cs typeface="Helvetica Neue"/>
              </a:rPr>
              <a:t>DATA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436B98A-A6AC-43F2-87EF-69D5738C3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00425"/>
            <a:ext cx="1276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706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B706F"/>
                </a:solidFill>
                <a:latin typeface="Helvetica Neue"/>
                <a:ea typeface="Helvetica Neue"/>
                <a:cs typeface="Helvetica Neue"/>
              </a:rPr>
              <a:t>BUSI · OASBUD · BrEaST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83D093F-1CF3-476A-A484-2C51EA7F0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362200"/>
            <a:ext cx="1657350" cy="1714500"/>
          </a:xfrm>
          <a:prstGeom xmlns:a="http://schemas.openxmlformats.org/drawingml/2006/main" prst="roundRect">
            <a:avLst>
              <a:gd name="adj" fmla="val 9195"/>
            </a:avLst>
          </a:prstGeom>
          <a:solidFill xmlns:a="http://schemas.openxmlformats.org/drawingml/2006/main">
            <a:srgbClr val="F5E8C8"/>
          </a:solidFill>
          <a:ln xmlns:a="http://schemas.openxmlformats.org/drawingml/2006/main" w="9525">
            <a:solidFill>
              <a:srgbClr val="D6B56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A882EC4-6075-479A-A269-946AB8E25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57175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C74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0C746D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2EA46BC-A01D-4002-B064-B0A9FA4F5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962275"/>
            <a:ext cx="1276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82F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082F35"/>
                </a:solidFill>
                <a:latin typeface="Helvetica Neue"/>
                <a:ea typeface="Helvetica Neue"/>
                <a:cs typeface="Helvetica Neue"/>
              </a:rPr>
              <a:t>AUDIT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3373BAB-3C89-4321-9631-DAD881AF6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400425"/>
            <a:ext cx="1276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706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B706F"/>
                </a:solidFill>
                <a:latin typeface="Helvetica Neue"/>
                <a:ea typeface="Helvetica Neue"/>
                <a:cs typeface="Helvetica Neue"/>
              </a:rPr>
              <a:t>subjects · provenance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BC871BD-F6EB-4D9C-90D7-267A6CC13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362200"/>
            <a:ext cx="1657350" cy="1714500"/>
          </a:xfrm>
          <a:prstGeom xmlns:a="http://schemas.openxmlformats.org/drawingml/2006/main" prst="roundRect">
            <a:avLst>
              <a:gd name="adj" fmla="val 9195"/>
            </a:avLst>
          </a:prstGeom>
          <a:solidFill xmlns:a="http://schemas.openxmlformats.org/drawingml/2006/main">
            <a:srgbClr val="FFFCF6"/>
          </a:solidFill>
          <a:ln xmlns:a="http://schemas.openxmlformats.org/drawingml/2006/main" w="9525">
            <a:solidFill>
              <a:srgbClr val="D6DDD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A2CA2A9-92EC-4FE5-9352-E6612390B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57175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C74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0C746D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BD20D95-3739-4D21-8305-583E59360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962275"/>
            <a:ext cx="1276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82F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82F35"/>
                </a:solidFill>
                <a:latin typeface="Helvetica Neue"/>
                <a:ea typeface="Helvetica Neue"/>
                <a:cs typeface="Helvetica Neue"/>
              </a:rPr>
              <a:t>PREPROCESS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0E4F9F9-7D40-408C-BA24-0B86FF700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400425"/>
            <a:ext cx="1276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706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B706F"/>
                </a:solidFill>
                <a:latin typeface="Helvetica Neue"/>
                <a:ea typeface="Helvetica Neue"/>
                <a:cs typeface="Helvetica Neue"/>
              </a:rPr>
              <a:t>CLAHE · crop · pad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FC79341-7F8F-457A-9A65-0F6BB1851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362200"/>
            <a:ext cx="1657350" cy="1714500"/>
          </a:xfrm>
          <a:prstGeom xmlns:a="http://schemas.openxmlformats.org/drawingml/2006/main" prst="roundRect">
            <a:avLst>
              <a:gd name="adj" fmla="val 9195"/>
            </a:avLst>
          </a:prstGeom>
          <a:solidFill xmlns:a="http://schemas.openxmlformats.org/drawingml/2006/main">
            <a:srgbClr val="FFFCF6"/>
          </a:solidFill>
          <a:ln xmlns:a="http://schemas.openxmlformats.org/drawingml/2006/main" w="9525">
            <a:solidFill>
              <a:srgbClr val="D6DDD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514FFB4-A0CA-4B4A-ADB5-38928D955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57175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C74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0C746D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D8B7483-D5F7-4A54-9E3D-5B3265526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962275"/>
            <a:ext cx="1276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82F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082F35"/>
                </a:solidFill>
                <a:latin typeface="Helvetica Neue"/>
                <a:ea typeface="Helvetica Neue"/>
                <a:cs typeface="Helvetica Neue"/>
              </a:rPr>
              <a:t>MODEL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7F43783-F0BF-4C12-9844-156148BAC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400425"/>
            <a:ext cx="1276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706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B706F"/>
                </a:solidFill>
                <a:latin typeface="Helvetica Neue"/>
                <a:ea typeface="Helvetica Neue"/>
                <a:cs typeface="Helvetica Neue"/>
              </a:rPr>
              <a:t>EfficientNet · ResNet · CNN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63957D6-8D8A-43DC-A060-6551374C0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362200"/>
            <a:ext cx="1657350" cy="1714500"/>
          </a:xfrm>
          <a:prstGeom xmlns:a="http://schemas.openxmlformats.org/drawingml/2006/main" prst="roundRect">
            <a:avLst>
              <a:gd name="adj" fmla="val 9195"/>
            </a:avLst>
          </a:prstGeom>
          <a:solidFill xmlns:a="http://schemas.openxmlformats.org/drawingml/2006/main">
            <a:srgbClr val="FFFCF6"/>
          </a:solidFill>
          <a:ln xmlns:a="http://schemas.openxmlformats.org/drawingml/2006/main" w="9525">
            <a:solidFill>
              <a:srgbClr val="D6DDD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F3BB6F7-17FC-461C-AD34-0ABAE6CEC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57175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C74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0C746D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C064C4A-7401-4F87-A003-2A6427776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962275"/>
            <a:ext cx="1276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82F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082F35"/>
                </a:solidFill>
                <a:latin typeface="Helvetica Neue"/>
                <a:ea typeface="Helvetica Neue"/>
                <a:cs typeface="Helvetica Neue"/>
              </a:rPr>
              <a:t>EVALUATE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DB87901-8FDD-4ED7-BF18-A50A5E756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400425"/>
            <a:ext cx="1276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706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B706F"/>
                </a:solidFill>
                <a:latin typeface="Helvetica Neue"/>
                <a:ea typeface="Helvetica Neue"/>
                <a:cs typeface="Helvetica Neue"/>
              </a:rPr>
              <a:t>predictions · metrics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9E75B41-3387-4DEE-B70C-948E960ED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2362200"/>
            <a:ext cx="1657350" cy="1714500"/>
          </a:xfrm>
          <a:prstGeom xmlns:a="http://schemas.openxmlformats.org/drawingml/2006/main" prst="roundRect">
            <a:avLst>
              <a:gd name="adj" fmla="val 9195"/>
            </a:avLst>
          </a:prstGeom>
          <a:solidFill xmlns:a="http://schemas.openxmlformats.org/drawingml/2006/main">
            <a:srgbClr val="FFFCF6"/>
          </a:solidFill>
          <a:ln xmlns:a="http://schemas.openxmlformats.org/drawingml/2006/main" w="9525">
            <a:solidFill>
              <a:srgbClr val="D6DDD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8752CC8-F46D-4A95-A313-5A26C95DB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257175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C74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0C746D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7CE2094-4975-4E50-93F6-B80DDB0DD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2962275"/>
            <a:ext cx="1276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82F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082F35"/>
                </a:solidFill>
                <a:latin typeface="Helvetica Neue"/>
                <a:ea typeface="Helvetica Neue"/>
                <a:cs typeface="Helvetica Neue"/>
              </a:rPr>
              <a:t>SURFACES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B8C9AAB-7412-42BB-8C43-E72137BA8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3400425"/>
            <a:ext cx="1276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706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B706F"/>
                </a:solidFill>
                <a:latin typeface="Helvetica Neue"/>
                <a:ea typeface="Helvetica Neue"/>
                <a:cs typeface="Helvetica Neue"/>
              </a:rPr>
              <a:t>CLI · API · web</a:t>
            </a:r>
          </a:p>
        </p:txBody>
      </p:sp>
      <p:cxnSp>
        <p:nvCxnSpPr>
          <p:cNvPr id="66" name=""/>
          <p:cNvCxnSpPr>
            <a:stCxn xmlns:a="http://schemas.openxmlformats.org/drawingml/2006/main" id="5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2209800" y="3219450"/>
            <a:ext cx="2667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C746D"/>
            </a:solidFill>
            <a:prstDash val="solid"/>
            <a:tailEnd type="triangle" w="sm" len="sm"/>
          </a:ln>
        </p:spPr>
      </p:cxnSp>
      <p:cxnSp>
        <p:nvCxnSpPr>
          <p:cNvPr id="67" name=""/>
          <p:cNvCxnSpPr>
            <a:stCxn xmlns:a="http://schemas.openxmlformats.org/drawingml/2006/main" id="9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4133850" y="3219450"/>
            <a:ext cx="2667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C746D"/>
            </a:solidFill>
            <a:prstDash val="solid"/>
            <a:tailEnd type="triangle" w="sm" len="sm"/>
          </a:ln>
        </p:spPr>
      </p:cxnSp>
      <p:cxnSp>
        <p:nvCxnSpPr>
          <p:cNvPr id="68" name=""/>
          <p:cNvCxnSpPr>
            <a:stCxn xmlns:a="http://schemas.openxmlformats.org/drawingml/2006/main" id="13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6057900" y="3219450"/>
            <a:ext cx="2667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C746D"/>
            </a:solidFill>
            <a:prstDash val="solid"/>
            <a:tailEnd type="triangle" w="sm" len="sm"/>
          </a:ln>
        </p:spPr>
      </p:cxnSp>
      <p:cxnSp>
        <p:nvCxnSpPr>
          <p:cNvPr id="69" name=""/>
          <p:cNvCxnSpPr>
            <a:stCxn xmlns:a="http://schemas.openxmlformats.org/drawingml/2006/main" id="17" idx="3"/>
            <a:endCxn xmlns:a="http://schemas.openxmlformats.org/drawingml/2006/main" id="21" idx="1"/>
          </p:cNvCxnSpPr>
          <p:nvPr/>
        </p:nvCxnSpPr>
        <p:spPr>
          <a:xfrm xmlns:a="http://schemas.openxmlformats.org/drawingml/2006/main">
            <a:off x="7981950" y="3219450"/>
            <a:ext cx="2667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C746D"/>
            </a:solidFill>
            <a:prstDash val="solid"/>
            <a:tailEnd type="triangle" w="sm" len="sm"/>
          </a:ln>
        </p:spPr>
      </p:cxnSp>
      <p:cxnSp>
        <p:nvCxnSpPr>
          <p:cNvPr id="70" name=""/>
          <p:cNvCxnSpPr>
            <a:stCxn xmlns:a="http://schemas.openxmlformats.org/drawingml/2006/main" id="21" idx="3"/>
            <a:endCxn xmlns:a="http://schemas.openxmlformats.org/drawingml/2006/main" id="25" idx="1"/>
          </p:cNvCxnSpPr>
          <p:nvPr/>
        </p:nvCxnSpPr>
        <p:spPr>
          <a:xfrm xmlns:a="http://schemas.openxmlformats.org/drawingml/2006/main">
            <a:off x="9906000" y="3219450"/>
            <a:ext cx="2667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C746D"/>
            </a:solidFill>
            <a:prstDash val="solid"/>
            <a:tailEnd type="triangle" w="sm" len="sm"/>
          </a:ln>
        </p:spPr>
      </p:cxn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8D06C1E-E933-4E3F-B175-7D238CFEE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667250"/>
            <a:ext cx="9067800" cy="990600"/>
          </a:xfrm>
          <a:prstGeom xmlns:a="http://schemas.openxmlformats.org/drawingml/2006/main" prst="roundRect">
            <a:avLst>
              <a:gd name="adj" fmla="val 17308"/>
            </a:avLst>
          </a:prstGeom>
          <a:solidFill xmlns:a="http://schemas.openxmlformats.org/drawingml/2006/main">
            <a:srgbClr val="E6F2EF"/>
          </a:solidFill>
          <a:ln xmlns:a="http://schemas.openxmlformats.org/drawingml/2006/main" w="9525">
            <a:solidFill>
              <a:srgbClr val="B8D7D1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83BC12A-0AD1-44AF-85FA-67A11F66A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491490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C74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0C746D"/>
                </a:solidFill>
                <a:latin typeface="Helvetica Neue"/>
                <a:ea typeface="Helvetica Neue"/>
                <a:cs typeface="Helvetica Neue"/>
              </a:rPr>
              <a:t>Shared contract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02B767D-2E1A-4632-8B83-6768AEE77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848225"/>
            <a:ext cx="66103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5343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53438"/>
                </a:solidFill>
                <a:latin typeface="Helvetica Neue"/>
                <a:ea typeface="Helvetica Neue"/>
                <a:cs typeface="Helvetica Neue"/>
              </a:rPr>
              <a:t>Training, evaluation, command-line prediction, and API inference call the same preprocessing implementation.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05D96E4-5958-42FB-BD22-701C9BFB3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972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706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B706F"/>
                </a:solidFill>
                <a:latin typeface="Helvetica Neue"/>
                <a:ea typeface="Helvetica Neue"/>
                <a:cs typeface="Helvetica Neue"/>
              </a:rPr>
              <a:t>MSc dissertation · research prototype</a:t>
            </a:r>
          </a:p>
        </p:txBody>
      </p:sp>
    </p:spTree>
    <p:extLst>
      <p:ext uri="{BB962C8B-B14F-4D97-AF65-F5344CB8AC3E}">
        <p14:creationId xmlns:p14="http://schemas.microsoft.com/office/powerpoint/2010/main" val="178257725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6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0A94979-99F1-4F99-A556-31C0E1857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742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C74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0C746D"/>
                </a:solidFill>
                <a:latin typeface="Helvetica Neue"/>
                <a:ea typeface="Helvetica Neue"/>
                <a:cs typeface="Helvetica Neue"/>
              </a:rPr>
              <a:t>CURRENT COHORT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CF7D31-BD70-45B5-AA33-EB6DCD1F3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57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82F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082F35"/>
                </a:solidFill>
                <a:latin typeface="Helvetica Neue"/>
                <a:ea typeface="Helvetica Neue"/>
                <a:cs typeface="Helvetica Neue"/>
              </a:rPr>
              <a:t>The data audit fails before model comparison begins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8718FB-20E6-4B39-B59C-45A9894F8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0005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5B706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5B706F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092E7F-2EEC-48C5-BD86-B8A322599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90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DD8"/>
            </a:solidFill>
            <a:prstDash val="solid"/>
          </a:ln>
        </p:spPr>
      </p:sp>
      <p:graphicFrame>
        <p:nvGraphicFramePr>
          <p:cNvPr id="14" name=""/>
          <p:cNvGraphicFramePr/>
          <p:nvPr/>
        </p:nvGraphicFramePr>
        <p:xfrm>
          <a:off xmlns:a="http://schemas.openxmlformats.org/drawingml/2006/main" x="609600" y="1809750"/>
          <a:ext xmlns:a="http://schemas.openxmlformats.org/drawingml/2006/main" cx="10972800" cy="30861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619250"/>
                <a:gridCol w="1143000"/>
                <a:gridCol w="1333500"/>
                <a:gridCol w="1047750"/>
                <a:gridCol w="5829300"/>
              </a:tblGrid>
              <a:tr h="61722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Dataset</a:t>
                      </a:r>
                    </a:p>
                  </a:txBody>
                  <a:tcPr marL="91440" marR="91440" marT="45720" marB="45720">
                    <a:solidFill>
                      <a:srgbClr val="082F3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Train</a:t>
                      </a:r>
                    </a:p>
                  </a:txBody>
                  <a:tcPr marL="91440" marR="91440" marT="45720" marB="45720">
                    <a:solidFill>
                      <a:srgbClr val="082F3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Validation</a:t>
                      </a:r>
                    </a:p>
                  </a:txBody>
                  <a:tcPr marL="91440" marR="91440" marT="45720" marB="45720">
                    <a:solidFill>
                      <a:srgbClr val="082F3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Test</a:t>
                      </a:r>
                    </a:p>
                  </a:txBody>
                  <a:tcPr marL="91440" marR="91440" marT="45720" marB="45720">
                    <a:solidFill>
                      <a:srgbClr val="082F3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Audit finding</a:t>
                      </a:r>
                    </a:p>
                  </a:txBody>
                  <a:tcPr marL="91440" marR="91440" marT="45720" marB="45720">
                    <a:solidFill>
                      <a:srgbClr val="082F35"/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5343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BUSI</a:t>
                      </a:r>
                    </a:p>
                  </a:txBody>
                  <a:tcPr marL="91440" marR="91440" marT="45720" marB="45720">
                    <a:solidFill>
                      <a:srgbClr val="FFFC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5343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100</a:t>
                      </a:r>
                    </a:p>
                  </a:txBody>
                  <a:tcPr marL="91440" marR="91440" marT="45720" marB="45720">
                    <a:solidFill>
                      <a:srgbClr val="FFFC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5343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50</a:t>
                      </a:r>
                    </a:p>
                  </a:txBody>
                  <a:tcPr marL="91440" marR="91440" marT="45720" marB="45720">
                    <a:solidFill>
                      <a:srgbClr val="FFFC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5343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50</a:t>
                      </a:r>
                    </a:p>
                  </a:txBody>
                  <a:tcPr marL="91440" marR="91440" marT="45720" marB="45720">
                    <a:solidFill>
                      <a:srgbClr val="FFFC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5343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Subject IDs unverifiable after renaming</a:t>
                      </a:r>
                    </a:p>
                  </a:txBody>
                  <a:tcPr marL="91440" marR="91440" marT="45720" marB="45720">
                    <a:solidFill>
                      <a:srgbClr val="FFFCF6"/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5343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OASBUD</a:t>
                      </a:r>
                    </a:p>
                  </a:txBody>
                  <a:tcPr marL="91440" marR="91440" marT="45720" marB="45720">
                    <a:solidFill>
                      <a:srgbClr val="FFFC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5343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140</a:t>
                      </a:r>
                    </a:p>
                  </a:txBody>
                  <a:tcPr marL="91440" marR="91440" marT="45720" marB="45720">
                    <a:solidFill>
                      <a:srgbClr val="FFFC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5343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30</a:t>
                      </a:r>
                    </a:p>
                  </a:txBody>
                  <a:tcPr marL="91440" marR="91440" marT="45720" marB="45720">
                    <a:solidFill>
                      <a:srgbClr val="FFFC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5343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30</a:t>
                      </a:r>
                    </a:p>
                  </a:txBody>
                  <a:tcPr marL="91440" marR="91440" marT="45720" marB="45720">
                    <a:solidFill>
                      <a:srgbClr val="FFFC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5343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30nh appears in train and validation</a:t>
                      </a:r>
                    </a:p>
                  </a:txBody>
                  <a:tcPr marL="91440" marR="91440" marT="45720" marB="45720">
                    <a:solidFill>
                      <a:srgbClr val="FFFCF6"/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5343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BrEaST</a:t>
                      </a:r>
                    </a:p>
                  </a:txBody>
                  <a:tcPr marL="91440" marR="91440" marT="45720" marB="45720">
                    <a:solidFill>
                      <a:srgbClr val="FFFC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5343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162</a:t>
                      </a:r>
                    </a:p>
                  </a:txBody>
                  <a:tcPr marL="91440" marR="91440" marT="45720" marB="45720">
                    <a:solidFill>
                      <a:srgbClr val="FFFC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5343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27</a:t>
                      </a:r>
                    </a:p>
                  </a:txBody>
                  <a:tcPr marL="91440" marR="91440" marT="45720" marB="45720">
                    <a:solidFill>
                      <a:srgbClr val="FFFC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5343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40</a:t>
                      </a:r>
                    </a:p>
                  </a:txBody>
                  <a:tcPr marL="91440" marR="91440" marT="45720" marB="45720">
                    <a:solidFill>
                      <a:srgbClr val="FFFC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5343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case140 and case151 cross partitions</a:t>
                      </a:r>
                    </a:p>
                  </a:txBody>
                  <a:tcPr marL="91440" marR="91440" marT="45720" marB="45720">
                    <a:solidFill>
                      <a:srgbClr val="FFFCF6"/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9B3F3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Combined</a:t>
                      </a:r>
                    </a:p>
                  </a:txBody>
                  <a:tcPr marL="91440" marR="91440" marT="45720" marB="45720">
                    <a:solidFill>
                      <a:srgbClr val="F3DED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9B3F3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402</a:t>
                      </a:r>
                    </a:p>
                  </a:txBody>
                  <a:tcPr marL="91440" marR="91440" marT="45720" marB="45720">
                    <a:solidFill>
                      <a:srgbClr val="F3DED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9B3F3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107</a:t>
                      </a:r>
                    </a:p>
                  </a:txBody>
                  <a:tcPr marL="91440" marR="91440" marT="45720" marB="45720">
                    <a:solidFill>
                      <a:srgbClr val="F3DED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9B3F3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120</a:t>
                      </a:r>
                    </a:p>
                  </a:txBody>
                  <a:tcPr marL="91440" marR="91440" marT="45720" marB="45720">
                    <a:solidFill>
                      <a:srgbClr val="F3DED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9B3F3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FAILED — provisional metrics only</a:t>
                      </a:r>
                    </a:p>
                  </a:txBody>
                  <a:tcPr marL="91440" marR="91440" marT="45720" marB="45720">
                    <a:solidFill>
                      <a:srgbClr val="F3DEDA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3B78D0-08D7-467D-B5EF-113596748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62550"/>
            <a:ext cx="10972800" cy="8572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5E8C8"/>
          </a:solidFill>
          <a:ln xmlns:a="http://schemas.openxmlformats.org/drawingml/2006/main" w="9525">
            <a:solidFill>
              <a:srgbClr val="D6B56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CED047-5630-4D5B-B379-82A269C92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410200"/>
            <a:ext cx="1476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6E4C0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6E4C08"/>
                </a:solidFill>
                <a:latin typeface="Helvetica Neue"/>
                <a:ea typeface="Helvetica Neue"/>
                <a:cs typeface="Helvetica Neue"/>
              </a:rPr>
              <a:t>Release gate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CDC227-FCE7-4755-A082-B56D10D89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334000"/>
            <a:ext cx="87249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D49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D4920"/>
                </a:solidFill>
                <a:latin typeface="Helvetica Neue"/>
                <a:ea typeface="Helvetica Neue"/>
                <a:cs typeface="Helvetica Neue"/>
              </a:rPr>
              <a:t>Training now stops by default unless --allow-unaudited-data is supplied for an explicitly provisional run.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E14A5F1-7C84-48CE-B630-2520F0F14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972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706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B706F"/>
                </a:solidFill>
                <a:latin typeface="Helvetica Neue"/>
                <a:ea typeface="Helvetica Neue"/>
                <a:cs typeface="Helvetica Neue"/>
              </a:rPr>
              <a:t>Source: outputs/data_audit.json · generated from the supplied local folders</a:t>
            </a:r>
          </a:p>
        </p:txBody>
      </p:sp>
    </p:spTree>
    <p:extLst>
      <p:ext uri="{BB962C8B-B14F-4D97-AF65-F5344CB8AC3E}">
        <p14:creationId xmlns:p14="http://schemas.microsoft.com/office/powerpoint/2010/main" val="35700452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6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05CE7FF-07EC-4531-B5D5-FE71AECBA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742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C74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0C746D"/>
                </a:solidFill>
                <a:latin typeface="Helvetica Neue"/>
                <a:ea typeface="Helvetica Neue"/>
                <a:cs typeface="Helvetica Neue"/>
              </a:rPr>
              <a:t>EXPERIMENTAL METHOD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0F6FEB-B681-4CCD-B493-0F019EAF6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57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82F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082F35"/>
                </a:solidFill>
                <a:latin typeface="Helvetica Neue"/>
                <a:ea typeface="Helvetica Neue"/>
                <a:cs typeface="Helvetica Neue"/>
              </a:rPr>
              <a:t>Preprocessing is configurable, shared, and testable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61FD58-A025-4570-8F36-5529438D7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0005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5B706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5B706F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95E472-4619-4933-873F-1B9CB05BA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90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DD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4988BE-0A3A-4159-9609-8EDE547C5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85950"/>
            <a:ext cx="3429000" cy="2743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FCF6"/>
          </a:solidFill>
          <a:ln xmlns:a="http://schemas.openxmlformats.org/drawingml/2006/main" w="9525">
            <a:solidFill>
              <a:srgbClr val="D6DDD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540B9C-5957-444B-BB07-0AC89D8E1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33600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C74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0C746D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D05C1E-2750-4B33-96EF-10CA32FF5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43175"/>
            <a:ext cx="2895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82F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82F35"/>
                </a:solidFill>
                <a:latin typeface="Helvetica Neue"/>
                <a:ea typeface="Helvetica Neue"/>
                <a:cs typeface="Helvetica Neue"/>
              </a:rPr>
              <a:t>DIRECT RESIZE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8CCBC2-B6C9-4239-8796-0800DF038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43250"/>
            <a:ext cx="28956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5343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53438"/>
                </a:solidFill>
                <a:latin typeface="Helvetica Neue"/>
                <a:ea typeface="Helvetica Neue"/>
                <a:cs typeface="Helvetica Neue"/>
              </a:rPr>
              <a:t>Rectangular image is resized directly to 224×224.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933D61C-5B56-4AEF-B367-CB925FEEB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943350"/>
            <a:ext cx="2895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706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B706F"/>
                </a:solidFill>
                <a:latin typeface="Helvetica Neue"/>
                <a:ea typeface="Helvetica Neue"/>
                <a:cs typeface="Helvetica Neue"/>
              </a:rPr>
              <a:t>Comparator; anisotropic when x/y scale factors differ.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2645DE1-6842-4637-8964-B86E125ED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885950"/>
            <a:ext cx="3429000" cy="2743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FCF6"/>
          </a:solidFill>
          <a:ln xmlns:a="http://schemas.openxmlformats.org/drawingml/2006/main" w="9525">
            <a:solidFill>
              <a:srgbClr val="D6DDD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E4D441F-33FF-42D8-82A7-CBB59B0FE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133600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C74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0C746D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2CE847C-9022-4565-9BF7-350142359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543175"/>
            <a:ext cx="2895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82F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82F35"/>
                </a:solidFill>
                <a:latin typeface="Helvetica Neue"/>
                <a:ea typeface="Helvetica Neue"/>
                <a:cs typeface="Helvetica Neue"/>
              </a:rPr>
              <a:t>CENTRE CROP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8742422-BAE2-4B33-B260-173A2947B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143250"/>
            <a:ext cx="28956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5343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53438"/>
                </a:solidFill>
                <a:latin typeface="Helvetica Neue"/>
                <a:ea typeface="Helvetica Neue"/>
                <a:cs typeface="Helvetica Neue"/>
              </a:rPr>
              <a:t>A centred square is selected before resizing.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158EA19-4993-476C-97D5-2E88E6EBE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943350"/>
            <a:ext cx="2895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706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B706F"/>
                </a:solidFill>
                <a:latin typeface="Helvetica Neue"/>
                <a:ea typeface="Helvetica Neue"/>
                <a:cs typeface="Helvetica Neue"/>
              </a:rPr>
              <a:t>Comparator; may remove peripheral context.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53A8FBF-8B43-4877-BC85-DF131C6C0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1885950"/>
            <a:ext cx="3429000" cy="2743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E6F2EF"/>
          </a:solidFill>
          <a:ln xmlns:a="http://schemas.openxmlformats.org/drawingml/2006/main" w="9525">
            <a:solidFill>
              <a:srgbClr val="98C8B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2281E7F-3C05-421E-89FA-D50BAE664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133600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C74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0C746D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9F76F55-43AE-4FB1-80B5-14A490DAF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543175"/>
            <a:ext cx="2895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82F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82F35"/>
                </a:solidFill>
                <a:latin typeface="Helvetica Neue"/>
                <a:ea typeface="Helvetica Neue"/>
                <a:cs typeface="Helvetica Neue"/>
              </a:rPr>
              <a:t>MASK / FALLBACK + PAD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6664EB0-D1B2-40D8-B2C2-C061656DF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143250"/>
            <a:ext cx="28956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5343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53438"/>
                </a:solidFill>
                <a:latin typeface="Helvetica Neue"/>
                <a:ea typeface="Helvetica Neue"/>
                <a:cs typeface="Helvetica Neue"/>
              </a:rPr>
              <a:t>Mask bbox or central 80% → margin → reflected square pad.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FC36F44-F5A9-4818-8C18-0BE5C15F8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943350"/>
            <a:ext cx="2895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706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B706F"/>
                </a:solidFill>
                <a:latin typeface="Helvetica Neue"/>
                <a:ea typeface="Helvetica Neue"/>
                <a:cs typeface="Helvetica Neue"/>
              </a:rPr>
              <a:t>Default research path; preserves crop aspect ratio.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FBCFFF1-448D-450E-AFCD-A9F9B6D1B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6730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C74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C746D"/>
                </a:solidFill>
                <a:latin typeface="Helvetica Neue"/>
                <a:ea typeface="Helvetica Neue"/>
                <a:cs typeface="Helvetica Neue"/>
              </a:rPr>
              <a:t>Controlled ablation rule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98E9C3D-0977-43AB-AC8D-F6E9B1519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000625"/>
            <a:ext cx="82486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5343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153438"/>
                </a:solidFill>
                <a:latin typeface="Helvetica Neue"/>
                <a:ea typeface="Helvetica Neue"/>
                <a:cs typeface="Helvetica Neue"/>
              </a:rPr>
              <a:t>Hold the subject partition, architecture, training budget, and random seeds fixed; change one preprocessing factor at a time.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A0BA5D3-2087-4C11-AB46-138F1DAE4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10972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706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B706F"/>
                </a:solidFill>
                <a:latin typeface="Helvetica Neue"/>
                <a:ea typeface="Helvetica Neue"/>
                <a:cs typeface="Helvetica Neue"/>
              </a:rPr>
              <a:t>Training augmentation: horizontal flips + rotations ≤15°. Vertical flips are excluded because image depth has acquisition meaning.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2B219D6-9640-4091-B0FD-57774CD59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972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706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B706F"/>
                </a:solidFill>
                <a:latin typeface="Helvetica Neue"/>
                <a:ea typeface="Helvetica Neue"/>
                <a:cs typeface="Helvetica Neue"/>
              </a:rPr>
              <a:t>MSc dissertation · research prototype</a:t>
            </a:r>
          </a:p>
        </p:txBody>
      </p:sp>
    </p:spTree>
    <p:extLst>
      <p:ext uri="{BB962C8B-B14F-4D97-AF65-F5344CB8AC3E}">
        <p14:creationId xmlns:p14="http://schemas.microsoft.com/office/powerpoint/2010/main" val="42963220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6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C8B9F9D-9E75-49C3-B4BF-0395D6124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742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C74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0C746D"/>
                </a:solidFill>
                <a:latin typeface="Helvetica Neue"/>
                <a:ea typeface="Helvetica Neue"/>
                <a:cs typeface="Helvetica Neue"/>
              </a:rPr>
              <a:t>EXECUTABLE CHECKPOINT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1811CE-9671-425D-AB9C-7E803732D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57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82F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082F35"/>
                </a:solidFill>
                <a:latin typeface="Helvetica Neue"/>
                <a:ea typeface="Helvetica Neue"/>
                <a:cs typeface="Helvetica Neue"/>
              </a:rPr>
              <a:t>End-to-end execution, provisional evidence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67B7D7-7596-4E68-AD4A-554F9D33B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0005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5B706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5B706F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0A2BA8-06E1-4582-811B-84EC944A8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90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DD8"/>
            </a:solidFill>
            <a:prstDash val="solid"/>
          </a:ln>
        </p:spPr>
      </p:sp>
      <p:graphicFrame>
        <p:nvGraphicFramePr>
          <p:cNvPr id="16" name="Chart"/>
          <p:cNvGraphicFramePr/>
          <p:nvPr/>
        </p:nvGraphicFramePr>
        <p:xfrm>
          <a:off xmlns:a="http://schemas.openxmlformats.org/drawingml/2006/main" x="514350" y="1866900"/>
          <a:ext xmlns:a="http://schemas.openxmlformats.org/drawingml/2006/main" cx="6572250" cy="36385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b7288de05834fe2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CE69A4-60B0-476A-94D9-EFDD11FB2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1924050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C74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C746D"/>
                </a:solidFill>
                <a:latin typeface="Helvetica Neue"/>
                <a:ea typeface="Helvetica Neue"/>
                <a:cs typeface="Helvetica Neue"/>
              </a:rPr>
              <a:t>CONFUSION MATRIX</a:t>
            </a:r>
          </a:p>
        </p:txBody>
      </p:sp>
      <p:graphicFrame>
        <p:nvGraphicFramePr>
          <p:cNvPr id="18" name=""/>
          <p:cNvGraphicFramePr/>
          <p:nvPr/>
        </p:nvGraphicFramePr>
        <p:xfrm>
          <a:off xmlns:a="http://schemas.openxmlformats.org/drawingml/2006/main" x="7562850" y="2324100"/>
          <a:ext xmlns:a="http://schemas.openxmlformats.org/drawingml/2006/main" cx="4019550" cy="19812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733550"/>
                <a:gridCol w="1143000"/>
                <a:gridCol w="1143000"/>
              </a:tblGrid>
              <a:tr h="660400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Actual / predicted</a:t>
                      </a:r>
                    </a:p>
                  </a:txBody>
                  <a:tcPr marL="91440" marR="91440" marT="45720" marB="45720">
                    <a:solidFill>
                      <a:srgbClr val="082F3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Benign</a:t>
                      </a:r>
                    </a:p>
                  </a:txBody>
                  <a:tcPr marL="91440" marR="91440" marT="45720" marB="45720">
                    <a:solidFill>
                      <a:srgbClr val="082F3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Malignant</a:t>
                      </a:r>
                    </a:p>
                  </a:txBody>
                  <a:tcPr marL="91440" marR="91440" marT="45720" marB="45720">
                    <a:solidFill>
                      <a:srgbClr val="082F35"/>
                    </a:solidFill>
                  </a:tcPr>
                </a:tc>
              </a:tr>
              <a:tr h="6604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5343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Benign</a:t>
                      </a:r>
                    </a:p>
                  </a:txBody>
                  <a:tcPr marL="91440" marR="91440" marT="45720" marB="45720">
                    <a:solidFill>
                      <a:srgbClr val="FFFC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5343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53</a:t>
                      </a:r>
                    </a:p>
                  </a:txBody>
                  <a:tcPr marL="91440" marR="91440" marT="45720" marB="45720">
                    <a:solidFill>
                      <a:srgbClr val="D7EE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5343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9</a:t>
                      </a:r>
                    </a:p>
                  </a:txBody>
                  <a:tcPr marL="91440" marR="91440" marT="45720" marB="45720">
                    <a:solidFill>
                      <a:srgbClr val="F3DEDA"/>
                    </a:solidFill>
                  </a:tcPr>
                </a:tc>
              </a:tr>
              <a:tr h="6604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5343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Malignant</a:t>
                      </a:r>
                    </a:p>
                  </a:txBody>
                  <a:tcPr marL="91440" marR="91440" marT="45720" marB="45720">
                    <a:solidFill>
                      <a:srgbClr val="FFFC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5343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17</a:t>
                      </a:r>
                    </a:p>
                  </a:txBody>
                  <a:tcPr marL="91440" marR="91440" marT="45720" marB="45720">
                    <a:solidFill>
                      <a:srgbClr val="F3DED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5343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41</a:t>
                      </a:r>
                    </a:p>
                  </a:txBody>
                  <a:tcPr marL="91440" marR="91440" marT="45720" marB="45720">
                    <a:solidFill>
                      <a:srgbClr val="D7EEE9"/>
                    </a:solidFill>
                  </a:tcPr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2023315-661C-4EEE-90DF-F7E49E5B4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4572000"/>
            <a:ext cx="4019550" cy="990600"/>
          </a:xfrm>
          <a:prstGeom xmlns:a="http://schemas.openxmlformats.org/drawingml/2006/main" prst="roundRect">
            <a:avLst>
              <a:gd name="adj" fmla="val 17308"/>
            </a:avLst>
          </a:prstGeom>
          <a:solidFill xmlns:a="http://schemas.openxmlformats.org/drawingml/2006/main">
            <a:srgbClr val="F5E8C8"/>
          </a:solidFill>
          <a:ln xmlns:a="http://schemas.openxmlformats.org/drawingml/2006/main" w="9525">
            <a:solidFill>
              <a:srgbClr val="D6B56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BF23A93-C1D5-4A05-A91E-419F706E6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781550"/>
            <a:ext cx="352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6E4C0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6E4C08"/>
                </a:solidFill>
                <a:latin typeface="Helvetica Neue"/>
                <a:ea typeface="Helvetica Neue"/>
                <a:cs typeface="Helvetica Neue"/>
              </a:rPr>
              <a:t>120 test images · EfficientNet-B0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D95A031-4B6B-4D8D-B2F5-3F03B143F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5143500"/>
            <a:ext cx="352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49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D4920"/>
                </a:solidFill>
                <a:latin typeface="Helvetica Neue"/>
                <a:ea typeface="Helvetica Neue"/>
                <a:cs typeface="Helvetica Neue"/>
              </a:rPr>
              <a:t>Software-regression evidence only; the data audit failed.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27CD6C3-93A1-46ED-B83F-BBE6B51F4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972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706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B706F"/>
                </a:solidFill>
                <a:latin typeface="Helvetica Neue"/>
                <a:ea typeface="Helvetica Neue"/>
                <a:cs typeface="Helvetica Neue"/>
              </a:rPr>
              <a:t>Source: outputs/metrics.json and outputs/predictions.csv</a:t>
            </a:r>
          </a:p>
        </p:txBody>
      </p:sp>
    </p:spTree>
    <p:extLst>
      <p:ext uri="{BB962C8B-B14F-4D97-AF65-F5344CB8AC3E}">
        <p14:creationId xmlns:p14="http://schemas.microsoft.com/office/powerpoint/2010/main" val="137930847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6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3E3E37F-5852-4F8B-BF8C-F55BAA553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742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C74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0C746D"/>
                </a:solidFill>
                <a:latin typeface="Helvetica Neue"/>
                <a:ea typeface="Helvetica Neue"/>
                <a:cs typeface="Helvetica Neue"/>
              </a:rPr>
              <a:t>WHAT CHANGED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349FAE-85C6-4875-9548-65879CD24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57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82F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082F35"/>
                </a:solidFill>
                <a:latin typeface="Helvetica Neue"/>
                <a:ea typeface="Helvetica Neue"/>
                <a:cs typeface="Helvetica Neue"/>
              </a:rPr>
              <a:t>The project now leaves a verifiable evidence trail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97D33C-9479-422B-ADA5-111F8E784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0005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5B706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5B706F"/>
                </a:solidFill>
                <a:latin typeface="Helvetica Neue"/>
                <a:ea typeface="Helvetica Neue"/>
                <a:cs typeface="Helvetica Neue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7DE36E-59D7-46DA-B324-AAAE778A1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90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DD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A7373C-6D6D-4C55-847C-AE2432E4F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09750"/>
            <a:ext cx="7124700" cy="3867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54000" indent="-127000">
              <a:spcAft>
                <a:spcPts val="1100"/>
              </a:spcAft>
              <a:buChar char="•"/>
              <a:defRPr sz="1650">
                <a:solidFill>
                  <a:srgbClr val="15343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153438"/>
                </a:solidFill>
                <a:latin typeface="Helvetica Neue"/>
                <a:ea typeface="Helvetica Neue"/>
                <a:cs typeface="Helvetica Neue"/>
              </a:rPr>
              <a:t>Subject-level audit is regenerated before training; failed audits stop by default.</a:t>
            </a:r>
          </a:p>
          <a:p xmlns:a="http://schemas.openxmlformats.org/drawingml/2006/main">
            <a:pPr marL="254000" indent="-127000">
              <a:spcAft>
                <a:spcPts val="1100"/>
              </a:spcAft>
              <a:buChar char="•"/>
              <a:defRPr sz="1650">
                <a:solidFill>
                  <a:srgbClr val="15343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153438"/>
                </a:solidFill>
                <a:latin typeface="Helvetica Neue"/>
                <a:ea typeface="Helvetica Neue"/>
                <a:cs typeface="Helvetica Neue"/>
              </a:rPr>
              <a:t>Python, NumPy, PyTorch, and CUDA seeds are set and checkpoint configuration is saved.</a:t>
            </a:r>
          </a:p>
          <a:p xmlns:a="http://schemas.openxmlformats.org/drawingml/2006/main">
            <a:pPr marL="254000" indent="-127000">
              <a:spcAft>
                <a:spcPts val="1100"/>
              </a:spcAft>
              <a:buChar char="•"/>
              <a:defRPr sz="1650">
                <a:solidFill>
                  <a:srgbClr val="15343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153438"/>
                </a:solidFill>
                <a:latin typeface="Helvetica Neue"/>
                <a:ea typeface="Helvetica Neue"/>
                <a:cs typeface="Helvetica Neue"/>
              </a:rPr>
              <a:t>Evaluation writes one row per image plus metrics, figures, audit status, and checksums.</a:t>
            </a:r>
          </a:p>
          <a:p xmlns:a="http://schemas.openxmlformats.org/drawingml/2006/main">
            <a:pPr marL="254000" indent="-127000">
              <a:spcAft>
                <a:spcPts val="1100"/>
              </a:spcAft>
              <a:buChar char="•"/>
              <a:defRPr sz="1650">
                <a:solidFill>
                  <a:srgbClr val="15343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153438"/>
                </a:solidFill>
                <a:latin typeface="Helvetica Neue"/>
                <a:ea typeface="Helvetica Neue"/>
                <a:cs typeface="Helvetica Neue"/>
              </a:rPr>
              <a:t>Mask discovery, crop dimensions, audit failure, and the non-clinical API boundary have regression tests.</a:t>
            </a:r>
          </a:p>
          <a:p xmlns:a="http://schemas.openxmlformats.org/drawingml/2006/main">
            <a:pPr marL="254000" indent="-127000">
              <a:spcAft>
                <a:spcPts val="1100"/>
              </a:spcAft>
              <a:buChar char="•"/>
              <a:defRPr sz="1650">
                <a:solidFill>
                  <a:srgbClr val="15343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153438"/>
                </a:solidFill>
                <a:latin typeface="Helvetica Neue"/>
                <a:ea typeface="Helvetica Neue"/>
                <a:cs typeface="Helvetica Neue"/>
              </a:rPr>
              <a:t>The dissertation, notebook, Word document, slides, and web interface use the same current evidence status.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BF8C3C-19FD-4ABC-BF3D-693CA701E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809750"/>
            <a:ext cx="3352800" cy="3886200"/>
          </a:xfrm>
          <a:prstGeom xmlns:a="http://schemas.openxmlformats.org/drawingml/2006/main" prst="roundRect">
            <a:avLst>
              <a:gd name="adj" fmla="val 5114"/>
            </a:avLst>
          </a:prstGeom>
          <a:solidFill xmlns:a="http://schemas.openxmlformats.org/drawingml/2006/main">
            <a:srgbClr val="082F35"/>
          </a:solidFill>
          <a:ln xmlns:a="http://schemas.openxmlformats.org/drawingml/2006/main" w="9525">
            <a:solidFill>
              <a:srgbClr val="082F3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BFC9F7-F300-43EA-A7BE-6FDB0EB94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143125"/>
            <a:ext cx="2724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8DD8C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8DD8CE"/>
                </a:solidFill>
                <a:latin typeface="Helvetica Neue"/>
                <a:ea typeface="Helvetica Neue"/>
                <a:cs typeface="Helvetica Neue"/>
              </a:rPr>
              <a:t>RELEASE ARTIFACTS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3E968B8-914C-44BE-85BF-468D31F8D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676525"/>
            <a:ext cx="2724150" cy="198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data_audit.json</a:t>
            </a:r>
          </a:p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predictions.csv</a:t>
            </a:r>
          </a:p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metrics.json</a:t>
            </a:r>
          </a:p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confusion_matrix.png</a:t>
            </a:r>
          </a:p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roc_curve.png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5DD9ACF-9148-4E38-B8D9-5ACB7CB63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4914900"/>
            <a:ext cx="26289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7E8E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D7E8E3"/>
                </a:solidFill>
                <a:latin typeface="Helvetica Neue"/>
                <a:ea typeface="Helvetica Neue"/>
                <a:cs typeface="Helvetica Neue"/>
              </a:rPr>
              <a:t>Generated, inspectable, and tied to one evaluation run.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1199DB4-2C1A-498D-947E-79791615C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972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706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B706F"/>
                </a:solidFill>
                <a:latin typeface="Helvetica Neue"/>
                <a:ea typeface="Helvetica Neue"/>
                <a:cs typeface="Helvetica Neue"/>
              </a:rPr>
              <a:t>MSc dissertation · research prototype</a:t>
            </a:r>
          </a:p>
        </p:txBody>
      </p:sp>
    </p:spTree>
    <p:extLst>
      <p:ext uri="{BB962C8B-B14F-4D97-AF65-F5344CB8AC3E}">
        <p14:creationId xmlns:p14="http://schemas.microsoft.com/office/powerpoint/2010/main" val="187760237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82F3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D41F602-8832-40D9-AA38-0C762E983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7200"/>
            <a:ext cx="381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8DD8C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8DD8CE"/>
                </a:solidFill>
                <a:latin typeface="Helvetica Neue"/>
                <a:ea typeface="Helvetica Neue"/>
                <a:cs typeface="Helvetica Neue"/>
              </a:rPr>
              <a:t>CONCLUSION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2AD671-FA71-43D3-BBA6-6113F179C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7810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The framework is ready.</a:t>
            </a:r>
          </a:p>
          <a:p xmlns:a="http://schemas.openxmlformats.org/drawingml/2006/main">
            <a:pPr algn="l">
              <a:defRPr sz="36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The evidence is not finished.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E94B94-10F1-4F36-8EEB-F2FD261C0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0"/>
            <a:ext cx="5067300" cy="2247900"/>
          </a:xfrm>
          <a:prstGeom xmlns:a="http://schemas.openxmlformats.org/drawingml/2006/main" prst="roundRect">
            <a:avLst>
              <a:gd name="adj" fmla="val 7627"/>
            </a:avLst>
          </a:prstGeom>
          <a:solidFill xmlns:a="http://schemas.openxmlformats.org/drawingml/2006/main">
            <a:srgbClr val="123E43"/>
          </a:solidFill>
          <a:ln xmlns:a="http://schemas.openxmlformats.org/drawingml/2006/main" w="9525">
            <a:solidFill>
              <a:srgbClr val="2D5C6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5F43D4-50CA-4A60-ACB6-5FDFF7416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33750"/>
            <a:ext cx="4229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8DD8C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8DD8CE"/>
                </a:solidFill>
                <a:latin typeface="Helvetica Neue"/>
                <a:ea typeface="Helvetica Neue"/>
                <a:cs typeface="Helvetica Neue"/>
              </a:rPr>
              <a:t>Defensible now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ECE298-3C50-4FEF-8929-22A378E17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90950"/>
            <a:ext cx="4286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54000" indent="-127000">
              <a:spcAft>
                <a:spcPts val="600"/>
              </a:spcAft>
              <a:buChar char="•"/>
              <a:defRPr sz="135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Shared preprocessing and inference implementation</a:t>
            </a:r>
          </a:p>
          <a:p xmlns:a="http://schemas.openxmlformats.org/drawingml/2006/main">
            <a:pPr marL="254000" indent="-127000">
              <a:spcAft>
                <a:spcPts val="600"/>
              </a:spcAft>
              <a:buChar char="•"/>
              <a:defRPr sz="135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Auditable evaluation artifacts and release checks</a:t>
            </a:r>
          </a:p>
          <a:p xmlns:a="http://schemas.openxmlformats.org/drawingml/2006/main">
            <a:pPr marL="254000" indent="-127000">
              <a:spcAft>
                <a:spcPts val="600"/>
              </a:spcAft>
              <a:buChar char="•"/>
              <a:defRPr sz="135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Provisional checkpoint as engineering evidence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21946E-2648-4EBC-B66C-0DCC240B5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048000"/>
            <a:ext cx="5600700" cy="2247900"/>
          </a:xfrm>
          <a:prstGeom xmlns:a="http://schemas.openxmlformats.org/drawingml/2006/main" prst="roundRect">
            <a:avLst>
              <a:gd name="adj" fmla="val 7627"/>
            </a:avLst>
          </a:prstGeom>
          <a:solidFill xmlns:a="http://schemas.openxmlformats.org/drawingml/2006/main">
            <a:srgbClr val="F5E8C8"/>
          </a:solidFill>
          <a:ln xmlns:a="http://schemas.openxmlformats.org/drawingml/2006/main" w="9525">
            <a:solidFill>
              <a:srgbClr val="D6B56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BD7483-733C-4D26-92D3-CCB772893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333750"/>
            <a:ext cx="4857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6E4C0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6E4C08"/>
                </a:solidFill>
                <a:latin typeface="Helvetica Neue"/>
                <a:ea typeface="Helvetica Neue"/>
                <a:cs typeface="Helvetica Neue"/>
              </a:rPr>
              <a:t>Required before a final performance claim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389382-3572-417F-A7A8-22D934F3C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019550"/>
            <a:ext cx="4953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54000" indent="-127000">
              <a:spcAft>
                <a:spcPts val="800"/>
              </a:spcAft>
              <a:buChar char="•"/>
              <a:defRPr sz="1425">
                <a:solidFill>
                  <a:srgbClr val="4F402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>
                <a:solidFill>
                  <a:srgbClr val="4F4022"/>
                </a:solidFill>
                <a:latin typeface="Helvetica Neue"/>
                <a:ea typeface="Helvetica Neue"/>
                <a:cs typeface="Helvetica Neue"/>
              </a:rPr>
              <a:t>Rebuild subject-level partitions from original identifiers</a:t>
            </a:r>
          </a:p>
          <a:p xmlns:a="http://schemas.openxmlformats.org/drawingml/2006/main">
            <a:pPr marL="254000" indent="-127000">
              <a:spcAft>
                <a:spcPts val="800"/>
              </a:spcAft>
              <a:buChar char="•"/>
              <a:defRPr sz="1425">
                <a:solidFill>
                  <a:srgbClr val="4F402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>
                <a:solidFill>
                  <a:srgbClr val="4F4022"/>
                </a:solidFill>
                <a:latin typeface="Helvetica Neue"/>
                <a:ea typeface="Helvetica Neue"/>
                <a:cs typeface="Helvetica Neue"/>
              </a:rPr>
              <a:t>Freeze the test manifest before model selection</a:t>
            </a:r>
          </a:p>
          <a:p xmlns:a="http://schemas.openxmlformats.org/drawingml/2006/main">
            <a:pPr marL="254000" indent="-127000">
              <a:spcAft>
                <a:spcPts val="800"/>
              </a:spcAft>
              <a:buChar char="•"/>
              <a:defRPr sz="1425">
                <a:solidFill>
                  <a:srgbClr val="4F402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>
                <a:solidFill>
                  <a:srgbClr val="4F4022"/>
                </a:solidFill>
                <a:latin typeface="Helvetica Neue"/>
                <a:ea typeface="Helvetica Neue"/>
                <a:cs typeface="Helvetica Neue"/>
              </a:rPr>
              <a:t>Rerun matched multi-seed experiments and regenerate every result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5CC8D4C-B752-4CBB-8146-80C0CD245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3810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Questions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8F6F92F-6BE8-4A10-AA59-E4CD68088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5991225"/>
            <a:ext cx="6153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C7DAD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C7DAD6"/>
                </a:solidFill>
                <a:latin typeface="Helvetica Neue"/>
                <a:ea typeface="Helvetica Neue"/>
                <a:cs typeface="Helvetica Neue"/>
              </a:rPr>
              <a:t>No diagnostic, BI-RADS, or management inference is authorised by this prototype.</a:t>
            </a:r>
          </a:p>
        </p:txBody>
      </p:sp>
    </p:spTree>
    <p:extLst>
      <p:ext uri="{BB962C8B-B14F-4D97-AF65-F5344CB8AC3E}">
        <p14:creationId xmlns:p14="http://schemas.microsoft.com/office/powerpoint/2010/main" val="48184633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2026-09-07T06:47:51.7520000Z</dcterms:created>
  <dcterms:modified xsi:type="dcterms:W3CDTF">2026-09-07T06:47:51.7520000Z</dcterms:modified>
</coreProperties>
</file>